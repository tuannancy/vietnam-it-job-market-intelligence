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1f6d8d86014fc9" /><Relationship Type="http://schemas.openxmlformats.org/officeDocument/2006/relationships/extended-properties" Target="/docProps/app.xml" Id="Re8871177333c4dde" /><Relationship Type="http://schemas.openxmlformats.org/officeDocument/2006/relationships/officeDocument" Target="/ppt/presentation.xml" Id="R35472dce62184631" /></Relationships>
</file>

<file path=ppt/presentation.xml><?xml version="1.0" encoding="utf-8"?>
<p:presentation xmlns:p="http://schemas.openxmlformats.org/presentationml/2006/main">
  <p:sldMasterIdLst>
    <p:sldMasterId xmlns:r="http://schemas.openxmlformats.org/officeDocument/2006/relationships" id="2147483648" r:id="R7300769dea424bfc"/>
  </p:sldMasterIdLst>
  <p:notesMasterIdLst>
    <p:notesMasterId xmlns:r="http://schemas.openxmlformats.org/officeDocument/2006/relationships" r:id="R1cc505e5a5c54e24"/>
  </p:notesMasterIdLst>
  <p:sldIdLst>
    <p:sldId xmlns:r="http://schemas.openxmlformats.org/officeDocument/2006/relationships" id="256" r:id="R62426a98eec6444b"/>
    <p:sldId xmlns:r="http://schemas.openxmlformats.org/officeDocument/2006/relationships" id="257" r:id="R4a029875cbee4bd5"/>
    <p:sldId xmlns:r="http://schemas.openxmlformats.org/officeDocument/2006/relationships" id="258" r:id="Rb58dd17d73614aa8"/>
    <p:sldId xmlns:r="http://schemas.openxmlformats.org/officeDocument/2006/relationships" id="259" r:id="Rb63885bbf59f465a"/>
    <p:sldId xmlns:r="http://schemas.openxmlformats.org/officeDocument/2006/relationships" id="260" r:id="Rc97a71b213eb47de"/>
    <p:sldId xmlns:r="http://schemas.openxmlformats.org/officeDocument/2006/relationships" id="261" r:id="Ra27b3295efa441c3"/>
    <p:sldId xmlns:r="http://schemas.openxmlformats.org/officeDocument/2006/relationships" id="262" r:id="R1dcc286293874a3c"/>
    <p:sldId xmlns:r="http://schemas.openxmlformats.org/officeDocument/2006/relationships" id="263" r:id="Ra57b0e12ca1f48be"/>
    <p:sldId xmlns:r="http://schemas.openxmlformats.org/officeDocument/2006/relationships" id="264" r:id="R5d7122dc3eee4cb4"/>
    <p:sldId xmlns:r="http://schemas.openxmlformats.org/officeDocument/2006/relationships" id="265" r:id="Rf2168eb72ba9450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724701cea348d8" /><Relationship Type="http://schemas.openxmlformats.org/officeDocument/2006/relationships/slideMaster" Target="/ppt/slideMasters/slideMaster1.xml" Id="R7300769dea424bfc" /><Relationship Type="http://schemas.openxmlformats.org/officeDocument/2006/relationships/notesMaster" Target="/ppt/notesMasters/notesMaster1.xml" Id="R1cc505e5a5c54e24" /><Relationship Type="http://schemas.openxmlformats.org/officeDocument/2006/relationships/presProps" Target="/ppt/presProps.xml" Id="Rb43ce586908b4516" /><Relationship Type="http://schemas.openxmlformats.org/officeDocument/2006/relationships/tableStyles" Target="/ppt/tableStyles.xml" Id="Rba71d5bf26ef4060" /><Relationship Type="http://schemas.openxmlformats.org/officeDocument/2006/relationships/slide" Target="/ppt/slides/slide1.xml" Id="R62426a98eec6444b" /><Relationship Type="http://schemas.openxmlformats.org/officeDocument/2006/relationships/slide" Target="/ppt/slides/slide2.xml" Id="R4a029875cbee4bd5" /><Relationship Type="http://schemas.openxmlformats.org/officeDocument/2006/relationships/slide" Target="/ppt/slides/slide3.xml" Id="Rb58dd17d73614aa8" /><Relationship Type="http://schemas.openxmlformats.org/officeDocument/2006/relationships/slide" Target="/ppt/slides/slide4.xml" Id="Rb63885bbf59f465a" /><Relationship Type="http://schemas.openxmlformats.org/officeDocument/2006/relationships/slide" Target="/ppt/slides/slide5.xml" Id="Rc97a71b213eb47de" /><Relationship Type="http://schemas.openxmlformats.org/officeDocument/2006/relationships/slide" Target="/ppt/slides/slide6.xml" Id="Ra27b3295efa441c3" /><Relationship Type="http://schemas.openxmlformats.org/officeDocument/2006/relationships/slide" Target="/ppt/slides/slide7.xml" Id="R1dcc286293874a3c" /><Relationship Type="http://schemas.openxmlformats.org/officeDocument/2006/relationships/slide" Target="/ppt/slides/slide8.xml" Id="Ra57b0e12ca1f48be" /><Relationship Type="http://schemas.openxmlformats.org/officeDocument/2006/relationships/slide" Target="/ppt/slides/slide9.xml" Id="R5d7122dc3eee4cb4" /><Relationship Type="http://schemas.openxmlformats.org/officeDocument/2006/relationships/slide" Target="/ppt/slides/slide10.xml" Id="Rf2168eb72ba9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4276142f464a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850babac9c429b" /><Relationship Type="http://schemas.openxmlformats.org/officeDocument/2006/relationships/notesMaster" Target="/ppt/notesMasters/notesMaster1.xml" Id="R813cdcaea8e746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771e04a2e44bfa" /><Relationship Type="http://schemas.openxmlformats.org/officeDocument/2006/relationships/notesMaster" Target="/ppt/notesMasters/notesMaster1.xml" Id="Rd3a8608538864f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508a0920ae46a3" /><Relationship Type="http://schemas.openxmlformats.org/officeDocument/2006/relationships/notesMaster" Target="/ppt/notesMasters/notesMaster1.xml" Id="R28dfc3b7c8d546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fe25adc71140cf" /><Relationship Type="http://schemas.openxmlformats.org/officeDocument/2006/relationships/notesMaster" Target="/ppt/notesMasters/notesMaster1.xml" Id="Rf838ed10b17444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7ea1b817354427" /><Relationship Type="http://schemas.openxmlformats.org/officeDocument/2006/relationships/notesMaster" Target="/ppt/notesMasters/notesMaster1.xml" Id="R15b8a9543f464c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680d0035b845dd" /><Relationship Type="http://schemas.openxmlformats.org/officeDocument/2006/relationships/notesMaster" Target="/ppt/notesMasters/notesMaster1.xml" Id="R0e11cb211f414f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f04e14fffc4ffb" /><Relationship Type="http://schemas.openxmlformats.org/officeDocument/2006/relationships/notesMaster" Target="/ppt/notesMasters/notesMaster1.xml" Id="Rd03434a4036742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a4f51671fc42f4" /><Relationship Type="http://schemas.openxmlformats.org/officeDocument/2006/relationships/notesMaster" Target="/ppt/notesMasters/notesMaster1.xml" Id="Rd533af03baf04e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9f01d050c94839" /><Relationship Type="http://schemas.openxmlformats.org/officeDocument/2006/relationships/notesMaster" Target="/ppt/notesMasters/notesMaster1.xml" Id="Rf68f5cda4cd84e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37c295e4cd40da" /><Relationship Type="http://schemas.openxmlformats.org/officeDocument/2006/relationships/notesMaster" Target="/ppt/notesMasters/notesMaster1.xml" Id="R26c138d4e5a443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vấn đề: nhận định về thị trường CNTT thường dựa vào cảm giác. Project này thử biến tin tuyển dụng công khai thành dữ liệu có thể kiểm tra. Tôi sẽ trình bày điều project đã làm được, các tín hiệu ban đầu, và đặc biệt là các giới hạn phải thừa nhận trước khi gọi đó là dự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quan trọng nhất của bài: không đánh đồng insight trong snapshot với dự báo tương lai. Với tuyển dụng, dữ liệu hiện tại cho thấy những kỹ năng được nhắc đến trong mẫu. Muốn dự báo xu hướng, cần chuỗi dữ liệu lặp lại và kiểm định theo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từ trái sang phải: crawler mở từng trang public, tôn trọng robots và delay. Nó không làm sạch hay dự đoán ở đây; chỉ append HTML, JSON-LD, visible text và thời điểm crawl vào raw JSONL. Record gốc này cho phép sửa parser rồi chạy lại xử lý mà không tạo thêm request đến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Thay vì chỉ nói schema, đây là bốn dòng thật được render trực tiếp từ jobs_analysis_clean.csv. Ta thấy cùng một schema nhưng lương có thể là text, số VND, USD hoặc bị ẩn. Sau dedupe còn 1.433 tin; chỉ 35,2% có lương số, và TopDev không đóng góp dữ liệu lương số.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insight mô tả mạnh nhất của dataset hiện tại. SQL, Python, Java, AWS và Docker xuất hiện nhiều trong các tin đã thu thập. Nhưng một posting có thể mang nhiều tag, và cách crawl có keyword discovery, nên không được kết luận đây là thứ hạng của toàn bộ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bốn dòng thực tế của salary_analysis_clean.csv, cho thấy đồng thời có USD và VND, range lương và các trường seniority, experience. Sau chuẩn hóa baseline, median là 25 triệu; median tăng từ 7 triệu intern đến 42,9 triệu senior. Tuy vậy đây không phải khảo sát đại diện vì salary missingness rất lớn.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đã có pipeline tránh salary leakage và đánh giá bằng held-out test. R squared khoảng 0,53 và MAE khoảng 10,4 triệu cho thấy model có tín hiệu, nhưng sai số vẫn lớn. Vì đánh giá bằng random split, nó không nói được model có dự báo tốt trên dữ liệu tương lai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này dùng chính artifact đã train: data/modeling/salary_regression/safe_baseline/model.joblib. Trước buổi nói, chạy lệnh Streamlit ở khung bên phải. Trong 45 giây, mở tab Predict, chọn topcv / Ho Chi Minh / middle / 2 năm / SQL-Python-AWS. Kết quả minh hoạ hiện 26,3 triệu VND/tháng với khoảng sai số 12,8–53,9 triệu. Nhấn mạnh khoảng rất rộng là tín hiệu về độ không chắc chắn, không phải lời khuyên chốt lương.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Thay vì che các lỗi này, đây là phần mình muốn nhấn mạnh. Data science tốt không chỉ là có model, mà là biết giới hạn dữ liệu. Bài học là phải đo coverage theo nguồn, sửa parser tại gốc, và không biến một snapshot thành kết luận xu hướng.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của mình không phải là một con số dự báo. Project đã xây được nền tảng đúng: dữ liệu thô, parser, EDA và baseline. Bước tiếp theo là thu thập lặp lại, sửa các trường có lỗi, sau đó tách rõ mô hình dự báo demand theo thời gian và mô hình lương.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f59386630144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cc1ff8fb544414" /><Relationship Type="http://schemas.openxmlformats.org/officeDocument/2006/relationships/slideLayout" Target="/ppt/slideLayouts/slideLayout1.xml" Id="Ra635efca0620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35efca0620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e824e2b8c242ba" /><Relationship Type="http://schemas.openxmlformats.org/officeDocument/2006/relationships/notesSlide" Target="/ppt/notesSlides/notesSlide1.xml" Id="R085beb2b4a574a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306b7deaa64282" /><Relationship Type="http://schemas.openxmlformats.org/officeDocument/2006/relationships/notesSlide" Target="/ppt/notesSlides/notesSlide2.xml" Id="Ra01df80c4e5f40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8923de531d41dd" /><Relationship Type="http://schemas.openxmlformats.org/officeDocument/2006/relationships/notesSlide" Target="/ppt/notesSlides/notesSlide3.xml" Id="R614802344ef3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592f47d3ae4f51" /><Relationship Type="http://schemas.openxmlformats.org/officeDocument/2006/relationships/image" Target="/ppt/media/image.png" Id="R43281d76e07944b5" /><Relationship Type="http://schemas.openxmlformats.org/officeDocument/2006/relationships/notesSlide" Target="/ppt/notesSlides/notesSlide4.xml" Id="R484dde02bacf4d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7bf996d6474f75" /><Relationship Type="http://schemas.openxmlformats.org/officeDocument/2006/relationships/chart" Target="/ppt/slides/charts/chart1.xml" Id="R9ce29a01ce3f4e3e" /><Relationship Type="http://schemas.openxmlformats.org/officeDocument/2006/relationships/notesSlide" Target="/ppt/notesSlides/notesSlide5.xml" Id="Rc21f05e9b128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129cb23fa54ff9" /><Relationship Type="http://schemas.openxmlformats.org/officeDocument/2006/relationships/image" Target="/ppt/media/image2.png" Id="Rb9bcb7ba3d1b4ec1" /><Relationship Type="http://schemas.openxmlformats.org/officeDocument/2006/relationships/notesSlide" Target="/ppt/notesSlides/notesSlide6.xml" Id="R746249313ce441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a0ca73f4834eab" /><Relationship Type="http://schemas.openxmlformats.org/officeDocument/2006/relationships/notesSlide" Target="/ppt/notesSlides/notesSlide7.xml" Id="R3330628cf03541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396078a17e46c0" /><Relationship Type="http://schemas.openxmlformats.org/officeDocument/2006/relationships/notesSlide" Target="/ppt/notesSlides/notesSlide8.xml" Id="R33e002e3387a44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ffb1eba9174062" /><Relationship Type="http://schemas.openxmlformats.org/officeDocument/2006/relationships/notesSlide" Target="/ppt/notesSlides/notesSlide9.xml" Id="R32c57e48f0724e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b3aa03927d4d0d" /><Relationship Type="http://schemas.openxmlformats.org/officeDocument/2006/relationships/notesSlide" Target="/ppt/notesSlides/notesSlide10.xml" Id="R020f1b55f5554842" /></Relationships>
</file>

<file path=ppt/slides/charts/chart1.xml><?xml version="1.0" encoding="utf-8"?>
<c:chartSpace xmlns:c="http://schemas.openxmlformats.org/drawingml/2006/chart">
  <c:lang val="en-US"/>
  <c:roundedCorners val="0"/>
  <c:chart>
    <c:plotArea>
      <c:layout/>
      <c:barChart>
        <c:barDir val="bar"/>
        <c:grouping val="clustered"/>
        <c:varyColors val="0"/>
        <c:ser>
          <c:idx val="0"/>
          <c:order val="0"/>
          <c:tx>
            <c:v>Giá trị</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5"/>
              <c:pt idx="0">
                <c:v>Docker</c:v>
              </c:pt>
              <c:pt idx="1">
                <c:v>AWS</c:v>
              </c:pt>
              <c:pt idx="2">
                <c:v>Java</c:v>
              </c:pt>
              <c:pt idx="3">
                <c:v>Python</c:v>
              </c:pt>
              <c:pt idx="4">
                <c:v>SQL</c:v>
              </c:pt>
            </c:strLit>
          </c:cat>
          <c:val>
            <c:numLit>
              <c:formatCode>General</c:formatCode>
              <c:ptCount val="5"/>
              <c:pt idx="0">
                <c:v>259</c:v>
              </c:pt>
              <c:pt idx="1">
                <c:v>269</c:v>
              </c:pt>
              <c:pt idx="2">
                <c:v>276</c:v>
              </c:pt>
              <c:pt idx="3">
                <c:v>344</c:v>
              </c:pt>
              <c:pt idx="4">
                <c:v>394</c:v>
              </c:pt>
            </c:numLit>
          </c:val>
        </c:ser>
        <c:dLbls>
          <c:txPr>
            <a:bodyPr xmlns:a="http://schemas.openxmlformats.org/drawingml/2006/main" anchorCtr="1"/>
            <a:lstStyle xmlns:a="http://schemas.openxmlformats.org/drawingml/2006/main"/>
            <a:p xmlns:a="http://schemas.openxmlformats.org/drawingml/2006/main">
              <a:pPr>
                <a:defRPr sz="1050" b="1">
                  <a:solidFill>
                    <a:srgbClr val="111111"/>
                  </a:solidFill>
                </a:defRPr>
              </a:pPr>
            </a:p>
          </c:txPr>
          <c:dLblPos val="outEnd"/>
          <c:showLegendKey val="0"/>
          <c:showVal val="1"/>
          <c:showCatName val="0"/>
          <c:showSerName val="0"/>
          <c:showPercent val="0"/>
          <c:showBubbleSize val="0"/>
          <c:showLeaderLines val="0"/>
        </c:dLbls>
        <c:gapWidth val="44"/>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D1D5DB"/>
            </a:solidFill>
            <a:prstDash val="solid"/>
          </a:ln>
        </c:spPr>
        <c:txPr>
          <a:bodyPr xmlns:a="http://schemas.openxmlformats.org/drawingml/2006/main" anchorCtr="1"/>
          <a:lstStyle xmlns:a="http://schemas.openxmlformats.org/drawingml/2006/main"/>
          <a:p xmlns:a="http://schemas.openxmlformats.org/drawingml/2006/main">
            <a:pPr>
              <a:defRPr sz="975">
                <a:solidFill>
                  <a:srgbClr val="595959"/>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b="1">
                <a:solidFill>
                  <a:srgbClr val="111111"/>
                </a:solidFill>
              </a:defRPr>
            </a:pPr>
          </a:p>
        </c:txPr>
        <c:crossAx val="48650112"/>
        <c:crosses val="autoZero"/>
        <c:crossBetween val="between"/>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over-kicker">
            <a:extLst xmlns:a="http://schemas.openxmlformats.org/drawingml/2006/main">
              <a:ext uri="{FF2B5EF4-FFF2-40B4-BE49-F238E27FC236}">
                <a16:creationId xmlns:a16="http://schemas.microsoft.com/office/drawing/2014/main" id="{796A2074-AE03-4D7A-B305-1D6AB12D7394}"/>
              </a:ext>
            </a:extLst>
          </p:cNvPr>
          <p:cNvSpPr>
            <a:spLocks xmlns:a="http://schemas.openxmlformats.org/drawingml/2006/main" noGrp="1"/>
          </p:cNvSpPr>
          <p:nvPr/>
        </p:nvSpPr>
        <p:spPr>
          <a:xfrm xmlns:a="http://schemas.openxmlformats.org/drawingml/2006/main">
            <a:off x="400050" y="4191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595959"/>
                </a:solidFill>
              </a:defRPr>
            </a:pPr>
            <a:r>
              <a:rPr sz="1125" b="1">
                <a:solidFill>
                  <a:srgbClr val="595959"/>
                </a:solidFill>
              </a:rPr>
              <a:t>VIETNAM IT JOB MARKET INTELLIGENCE</a:t>
            </a:r>
          </a:p>
        </p:txBody>
      </p:sp>
      <p:sp>
        <p:nvSpPr>
          <p:cNvPr id="2" name="rule">
            <a:extLst xmlns:a="http://schemas.openxmlformats.org/drawingml/2006/main">
              <a:ext uri="{FF2B5EF4-FFF2-40B4-BE49-F238E27FC236}">
                <a16:creationId xmlns:a16="http://schemas.microsoft.com/office/drawing/2014/main" id="{47ED39F5-BC2E-4FAD-B565-C6DCD8DA7049}"/>
              </a:ext>
            </a:extLst>
          </p:cNvPr>
          <p:cNvSpPr>
            <a:spLocks xmlns:a="http://schemas.openxmlformats.org/drawingml/2006/main" noGrp="1"/>
          </p:cNvSpPr>
          <p:nvPr/>
        </p:nvSpPr>
        <p:spPr>
          <a:xfrm xmlns:a="http://schemas.openxmlformats.org/drawingml/2006/main">
            <a:off x="400050" y="895350"/>
            <a:ext cx="1390650" cy="190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DE14709A-81FC-41DC-9E5E-BD51592A11CB}"/>
              </a:ext>
            </a:extLst>
          </p:cNvPr>
          <p:cNvSpPr>
            <a:spLocks xmlns:a="http://schemas.openxmlformats.org/drawingml/2006/main" noGrp="1"/>
          </p:cNvSpPr>
          <p:nvPr/>
        </p:nvSpPr>
        <p:spPr>
          <a:xfrm xmlns:a="http://schemas.openxmlformats.org/drawingml/2006/main">
            <a:off x="400050" y="135255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96000"/>
              </a:lnSpc>
              <a:buNone/>
              <a:defRPr sz="4350" b="1">
                <a:solidFill>
                  <a:srgbClr val="111111"/>
                </a:solidFill>
              </a:defRPr>
            </a:pPr>
            <a:r>
              <a:rPr sz="4350" b="1">
                <a:solidFill>
                  <a:srgbClr val="111111"/>
                </a:solidFill>
              </a:rPr>
              <a:t>Dự báo xu hướng tuyển dụng</a:t>
            </a:r>
          </a:p>
          <a:p xmlns:a="http://schemas.openxmlformats.org/drawingml/2006/main">
            <a:pPr>
              <a:lnSpc>
                <a:spcPct val="96000"/>
              </a:lnSpc>
              <a:buNone/>
              <a:defRPr sz="4350" b="1">
                <a:solidFill>
                  <a:srgbClr val="111111"/>
                </a:solidFill>
              </a:defRPr>
            </a:pPr>
            <a:r>
              <a:rPr sz="4350" b="1">
                <a:solidFill>
                  <a:srgbClr val="111111"/>
                </a:solidFill>
              </a:rPr>
              <a:t>và mức lương ngành CNTT</a:t>
            </a:r>
          </a:p>
        </p:txBody>
      </p:sp>
      <p:sp>
        <p:nvSpPr>
          <p:cNvPr id="4" name="cover-subtitle">
            <a:extLst xmlns:a="http://schemas.openxmlformats.org/drawingml/2006/main">
              <a:ext uri="{FF2B5EF4-FFF2-40B4-BE49-F238E27FC236}">
                <a16:creationId xmlns:a16="http://schemas.microsoft.com/office/drawing/2014/main" id="{A10016EF-9397-446F-A0AB-E46094BF554A}"/>
              </a:ext>
            </a:extLst>
          </p:cNvPr>
          <p:cNvSpPr>
            <a:spLocks xmlns:a="http://schemas.openxmlformats.org/drawingml/2006/main" noGrp="1"/>
          </p:cNvSpPr>
          <p:nvPr/>
        </p:nvSpPr>
        <p:spPr>
          <a:xfrm xmlns:a="http://schemas.openxmlformats.org/drawingml/2006/main">
            <a:off x="400050" y="3476625"/>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800">
                <a:solidFill>
                  <a:srgbClr val="595959"/>
                </a:solidFill>
              </a:defRPr>
            </a:pPr>
            <a:r>
              <a:rPr sz="1800">
                <a:solidFill>
                  <a:srgbClr val="595959"/>
                </a:solidFill>
              </a:rPr>
              <a:t>Từ pipeline dữ liệu việc làm công khai đến baseline dự báo lương</a:t>
            </a:r>
          </a:p>
        </p:txBody>
      </p:sp>
      <p:sp>
        <p:nvSpPr>
          <p:cNvPr id="5" name="cover-evidence">
            <a:extLst xmlns:a="http://schemas.openxmlformats.org/drawingml/2006/main">
              <a:ext uri="{FF2B5EF4-FFF2-40B4-BE49-F238E27FC236}">
                <a16:creationId xmlns:a16="http://schemas.microsoft.com/office/drawing/2014/main" id="{31BDD698-5658-42CF-98AE-F97345040206}"/>
              </a:ext>
            </a:extLst>
          </p:cNvPr>
          <p:cNvSpPr>
            <a:spLocks xmlns:a="http://schemas.openxmlformats.org/drawingml/2006/main" noGrp="1"/>
          </p:cNvSpPr>
          <p:nvPr/>
        </p:nvSpPr>
        <p:spPr>
          <a:xfrm xmlns:a="http://schemas.openxmlformats.org/drawingml/2006/main">
            <a:off x="8229600" y="885825"/>
            <a:ext cx="3162300" cy="4352925"/>
          </a:xfrm>
          <a:prstGeom xmlns:a="http://schemas.openxmlformats.org/drawingml/2006/main" prst="roundRect">
            <a:avLst>
              <a:gd name="adj" fmla="val 2410"/>
            </a:avLst>
          </a:prstGeom>
          <a:solidFill xmlns:a="http://schemas.openxmlformats.org/drawingml/2006/main">
            <a:srgbClr val="ECECEC"/>
          </a:solidFill>
          <a:ln xmlns:a="http://schemas.openxmlformats.org/drawingml/2006/main" w="0">
            <a:noFill/>
            <a:prstDash val="solid"/>
          </a:ln>
        </p:spPr>
      </p:sp>
      <p:sp>
        <p:nvSpPr>
          <p:cNvPr id="6" name="cover-evidence-label">
            <a:extLst xmlns:a="http://schemas.openxmlformats.org/drawingml/2006/main">
              <a:ext uri="{FF2B5EF4-FFF2-40B4-BE49-F238E27FC236}">
                <a16:creationId xmlns:a16="http://schemas.microsoft.com/office/drawing/2014/main" id="{771B1DF2-D7FD-4A4E-9D3A-262340F0312A}"/>
              </a:ext>
            </a:extLst>
          </p:cNvPr>
          <p:cNvSpPr>
            <a:spLocks xmlns:a="http://schemas.openxmlformats.org/drawingml/2006/main" noGrp="1"/>
          </p:cNvSpPr>
          <p:nvPr/>
        </p:nvSpPr>
        <p:spPr>
          <a:xfrm xmlns:a="http://schemas.openxmlformats.org/drawingml/2006/main">
            <a:off x="8553450" y="12382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75" b="1">
                <a:solidFill>
                  <a:srgbClr val="595959"/>
                </a:solidFill>
              </a:defRPr>
            </a:pPr>
            <a:r>
              <a:rPr sz="975" b="1">
                <a:solidFill>
                  <a:srgbClr val="595959"/>
                </a:solidFill>
              </a:rPr>
              <a:t>SNAPSHOT HIỆN TẠI</a:t>
            </a:r>
          </a:p>
        </p:txBody>
      </p:sp>
      <p:sp>
        <p:nvSpPr>
          <p:cNvPr id="7" name="cover-evidence-value">
            <a:extLst xmlns:a="http://schemas.openxmlformats.org/drawingml/2006/main">
              <a:ext uri="{FF2B5EF4-FFF2-40B4-BE49-F238E27FC236}">
                <a16:creationId xmlns:a16="http://schemas.microsoft.com/office/drawing/2014/main" id="{9E37B258-958B-4699-BABB-2C0E35574B8C}"/>
              </a:ext>
            </a:extLst>
          </p:cNvPr>
          <p:cNvSpPr>
            <a:spLocks xmlns:a="http://schemas.openxmlformats.org/drawingml/2006/main" noGrp="1"/>
          </p:cNvSpPr>
          <p:nvPr/>
        </p:nvSpPr>
        <p:spPr>
          <a:xfrm xmlns:a="http://schemas.openxmlformats.org/drawingml/2006/main">
            <a:off x="8553450" y="1781175"/>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350" b="1">
                <a:solidFill>
                  <a:srgbClr val="111111"/>
                </a:solidFill>
              </a:defRPr>
            </a:pPr>
            <a:r>
              <a:rPr sz="4350" b="1">
                <a:solidFill>
                  <a:srgbClr val="111111"/>
                </a:solidFill>
              </a:rPr>
              <a:t>1.433</a:t>
            </a:r>
          </a:p>
        </p:txBody>
      </p:sp>
      <p:sp>
        <p:nvSpPr>
          <p:cNvPr id="8" name="cover-evidence-body">
            <a:extLst xmlns:a="http://schemas.openxmlformats.org/drawingml/2006/main">
              <a:ext uri="{FF2B5EF4-FFF2-40B4-BE49-F238E27FC236}">
                <a16:creationId xmlns:a16="http://schemas.microsoft.com/office/drawing/2014/main" id="{0320FBA0-45E0-46A2-87C8-B7581D2B0E68}"/>
              </a:ext>
            </a:extLst>
          </p:cNvPr>
          <p:cNvSpPr>
            <a:spLocks xmlns:a="http://schemas.openxmlformats.org/drawingml/2006/main" noGrp="1"/>
          </p:cNvSpPr>
          <p:nvPr/>
        </p:nvSpPr>
        <p:spPr>
          <a:xfrm xmlns:a="http://schemas.openxmlformats.org/drawingml/2006/main">
            <a:off x="8553450" y="26098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5959"/>
                </a:solidFill>
              </a:defRPr>
            </a:pPr>
            <a:r>
              <a:rPr sz="1500">
                <a:solidFill>
                  <a:srgbClr val="595959"/>
                </a:solidFill>
              </a:rPr>
              <a:t>URL việc làm duy nhất</a:t>
            </a:r>
          </a:p>
          <a:p xmlns:a="http://schemas.openxmlformats.org/drawingml/2006/main">
            <a:pPr>
              <a:buNone/>
              <a:defRPr sz="1500">
                <a:solidFill>
                  <a:srgbClr val="595959"/>
                </a:solidFill>
              </a:defRPr>
            </a:pPr>
            <a:r>
              <a:rPr sz="1500">
                <a:solidFill>
                  <a:srgbClr val="595959"/>
                </a:solidFill>
              </a:rPr>
              <a:t>3 nguồn dữ liệu</a:t>
            </a:r>
          </a:p>
          <a:p xmlns:a="http://schemas.openxmlformats.org/drawingml/2006/main">
            <a:pPr>
              <a:buNone/>
              <a:defRPr sz="1500">
                <a:solidFill>
                  <a:srgbClr val="595959"/>
                </a:solidFill>
              </a:defRPr>
            </a:pPr>
            <a:r>
              <a:rPr sz="1500">
                <a:solidFill>
                  <a:srgbClr val="595959"/>
                </a:solidFill>
              </a:rPr>
              <a:t>30/06–02/07/2026</a:t>
            </a:r>
          </a:p>
        </p:txBody>
      </p:sp>
      <p:sp>
        <p:nvSpPr>
          <p:cNvPr id="9" name="cover-accent">
            <a:extLst xmlns:a="http://schemas.openxmlformats.org/drawingml/2006/main">
              <a:ext uri="{FF2B5EF4-FFF2-40B4-BE49-F238E27FC236}">
                <a16:creationId xmlns:a16="http://schemas.microsoft.com/office/drawing/2014/main" id="{638353C1-F6B1-40C7-A1EF-36E267736EC0}"/>
              </a:ext>
            </a:extLst>
          </p:cNvPr>
          <p:cNvSpPr>
            <a:spLocks xmlns:a="http://schemas.openxmlformats.org/drawingml/2006/main" noGrp="1"/>
          </p:cNvSpPr>
          <p:nvPr/>
        </p:nvSpPr>
        <p:spPr>
          <a:xfrm xmlns:a="http://schemas.openxmlformats.org/drawingml/2006/main">
            <a:off x="8553450" y="3943350"/>
            <a:ext cx="2209800" cy="1333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cover-note">
            <a:extLst xmlns:a="http://schemas.openxmlformats.org/drawingml/2006/main">
              <a:ext uri="{FF2B5EF4-FFF2-40B4-BE49-F238E27FC236}">
                <a16:creationId xmlns:a16="http://schemas.microsoft.com/office/drawing/2014/main" id="{9DFDB76F-F174-428B-BEC1-4E084EBEBE87}"/>
              </a:ext>
            </a:extLst>
          </p:cNvPr>
          <p:cNvSpPr>
            <a:spLocks xmlns:a="http://schemas.openxmlformats.org/drawingml/2006/main" noGrp="1"/>
          </p:cNvSpPr>
          <p:nvPr/>
        </p:nvSpPr>
        <p:spPr>
          <a:xfrm xmlns:a="http://schemas.openxmlformats.org/drawingml/2006/main">
            <a:off x="400050" y="58864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Đề tài lớp học • 7–10 phút</a:t>
            </a:r>
          </a:p>
        </p:txBody>
      </p:sp>
      <p:sp>
        <p:nvSpPr>
          <p:cNvPr id="11" name="rule">
            <a:extLst xmlns:a="http://schemas.openxmlformats.org/drawingml/2006/main">
              <a:ext uri="{FF2B5EF4-FFF2-40B4-BE49-F238E27FC236}">
                <a16:creationId xmlns:a16="http://schemas.microsoft.com/office/drawing/2014/main" id="{45C1AC7C-C6AB-4EBD-9496-C532B5BAFA88}"/>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2" name="source">
            <a:extLst xmlns:a="http://schemas.openxmlformats.org/drawingml/2006/main">
              <a:ext uri="{FF2B5EF4-FFF2-40B4-BE49-F238E27FC236}">
                <a16:creationId xmlns:a16="http://schemas.microsoft.com/office/drawing/2014/main" id="{92BE0280-106C-4AD2-A5F0-8452E9E3E6FC}"/>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data/analysis/jobs_analysis_clean.csv • Snapshot dữ liệu nội bộ</a:t>
            </a:r>
          </a:p>
        </p:txBody>
      </p:sp>
      <p:sp>
        <p:nvSpPr>
          <p:cNvPr id="13" name="slide-number">
            <a:extLst xmlns:a="http://schemas.openxmlformats.org/drawingml/2006/main">
              <a:ext uri="{FF2B5EF4-FFF2-40B4-BE49-F238E27FC236}">
                <a16:creationId xmlns:a16="http://schemas.microsoft.com/office/drawing/2014/main" id="{22DF583E-5F56-4CA7-9595-F4C2E7D1FD2C}"/>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01</a:t>
            </a:r>
          </a:p>
        </p:txBody>
      </p:sp>
    </p:spTree>
    <p:extLst>
      <p:ext uri="{BB962C8B-B14F-4D97-AF65-F5344CB8AC3E}">
        <p14:creationId xmlns:p14="http://schemas.microsoft.com/office/powerpoint/2010/main" val="10966234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15822368-9D32-48EE-A273-401F2CCD0B44}"/>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01 — CÂU HỎI NGHIÊN CỨU</a:t>
            </a:r>
          </a:p>
        </p:txBody>
      </p:sp>
      <p:sp>
        <p:nvSpPr>
          <p:cNvPr id="2" name="title">
            <a:extLst xmlns:a="http://schemas.openxmlformats.org/drawingml/2006/main">
              <a:ext uri="{FF2B5EF4-FFF2-40B4-BE49-F238E27FC236}">
                <a16:creationId xmlns:a16="http://schemas.microsoft.com/office/drawing/2014/main" id="{28A77F0C-60BC-41C4-A75A-6BD250B00723}"/>
              </a:ext>
            </a:extLst>
          </p:cNvPr>
          <p:cNvSpPr>
            <a:spLocks xmlns:a="http://schemas.openxmlformats.org/drawingml/2006/main" noGrp="1"/>
          </p:cNvSpPr>
          <p:nvPr/>
        </p:nvSpPr>
        <p:spPr>
          <a:xfrm xmlns:a="http://schemas.openxmlformats.org/drawingml/2006/main">
            <a:off x="400050" y="78105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Đặt đúng câu hỏi dự báo</a:t>
            </a:r>
          </a:p>
        </p:txBody>
      </p:sp>
      <p:sp>
        <p:nvSpPr>
          <p:cNvPr id="3" name="lead">
            <a:extLst xmlns:a="http://schemas.openxmlformats.org/drawingml/2006/main">
              <a:ext uri="{FF2B5EF4-FFF2-40B4-BE49-F238E27FC236}">
                <a16:creationId xmlns:a16="http://schemas.microsoft.com/office/drawing/2014/main" id="{6092B16A-62AF-40C1-B505-36E2D18D0AB9}"/>
              </a:ext>
            </a:extLst>
          </p:cNvPr>
          <p:cNvSpPr>
            <a:spLocks xmlns:a="http://schemas.openxmlformats.org/drawingml/2006/main" noGrp="1"/>
          </p:cNvSpPr>
          <p:nvPr/>
        </p:nvSpPr>
        <p:spPr>
          <a:xfrm xmlns:a="http://schemas.openxmlformats.org/drawingml/2006/main">
            <a:off x="400050" y="15049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a:solidFill>
                  <a:srgbClr val="595959"/>
                </a:solidFill>
              </a:defRPr>
            </a:pPr>
            <a:r>
              <a:rPr sz="1725">
                <a:solidFill>
                  <a:srgbClr val="595959"/>
                </a:solidFill>
              </a:rPr>
              <a:t>Hai bài toán liên quan, nhưng không thể dùng cùng một bằng chứng.</a:t>
            </a:r>
          </a:p>
        </p:txBody>
      </p:sp>
      <p:sp>
        <p:nvSpPr>
          <p:cNvPr id="4" name="signal-panel">
            <a:extLst xmlns:a="http://schemas.openxmlformats.org/drawingml/2006/main">
              <a:ext uri="{FF2B5EF4-FFF2-40B4-BE49-F238E27FC236}">
                <a16:creationId xmlns:a16="http://schemas.microsoft.com/office/drawing/2014/main" id="{2BE77806-F40C-4AA6-B134-9464A8BC7F95}"/>
              </a:ext>
            </a:extLst>
          </p:cNvPr>
          <p:cNvSpPr>
            <a:spLocks xmlns:a="http://schemas.openxmlformats.org/drawingml/2006/main" noGrp="1"/>
          </p:cNvSpPr>
          <p:nvPr/>
        </p:nvSpPr>
        <p:spPr>
          <a:xfrm xmlns:a="http://schemas.openxmlformats.org/drawingml/2006/main">
            <a:off x="400050" y="2381250"/>
            <a:ext cx="5162550" cy="2876550"/>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5" name="forecast-panel">
            <a:extLst xmlns:a="http://schemas.openxmlformats.org/drawingml/2006/main">
              <a:ext uri="{FF2B5EF4-FFF2-40B4-BE49-F238E27FC236}">
                <a16:creationId xmlns:a16="http://schemas.microsoft.com/office/drawing/2014/main" id="{734F5DD8-6E0E-47BB-A819-0A1D6151C4DE}"/>
              </a:ext>
            </a:extLst>
          </p:cNvPr>
          <p:cNvSpPr>
            <a:spLocks xmlns:a="http://schemas.openxmlformats.org/drawingml/2006/main" noGrp="1"/>
          </p:cNvSpPr>
          <p:nvPr/>
        </p:nvSpPr>
        <p:spPr>
          <a:xfrm xmlns:a="http://schemas.openxmlformats.org/drawingml/2006/main">
            <a:off x="6191250" y="2381250"/>
            <a:ext cx="5162550" cy="2876550"/>
          </a:xfrm>
          <a:prstGeom xmlns:a="http://schemas.openxmlformats.org/drawingml/2006/main" prst="rect">
            <a:avLst/>
          </a:prstGeom>
          <a:solidFill xmlns:a="http://schemas.openxmlformats.org/drawingml/2006/main">
            <a:srgbClr val="FFF0E9"/>
          </a:solidFill>
          <a:ln xmlns:a="http://schemas.openxmlformats.org/drawingml/2006/main" w="9525">
            <a:solidFill>
              <a:srgbClr val="FFD6C5"/>
            </a:solidFill>
            <a:prstDash val="solid"/>
          </a:ln>
        </p:spPr>
      </p:sp>
      <p:sp>
        <p:nvSpPr>
          <p:cNvPr id="6" name="signal-kicker">
            <a:extLst xmlns:a="http://schemas.openxmlformats.org/drawingml/2006/main">
              <a:ext uri="{FF2B5EF4-FFF2-40B4-BE49-F238E27FC236}">
                <a16:creationId xmlns:a16="http://schemas.microsoft.com/office/drawing/2014/main" id="{9EC21395-C808-434D-B88D-AC193E1830AF}"/>
              </a:ext>
            </a:extLst>
          </p:cNvPr>
          <p:cNvSpPr>
            <a:spLocks xmlns:a="http://schemas.openxmlformats.org/drawingml/2006/main" noGrp="1"/>
          </p:cNvSpPr>
          <p:nvPr/>
        </p:nvSpPr>
        <p:spPr>
          <a:xfrm xmlns:a="http://schemas.openxmlformats.org/drawingml/2006/main">
            <a:off x="704850" y="2705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TÍN HIỆU TỪ SNAPSHOT</a:t>
            </a:r>
          </a:p>
        </p:txBody>
      </p:sp>
      <p:sp>
        <p:nvSpPr>
          <p:cNvPr id="7" name="signal-title">
            <a:extLst xmlns:a="http://schemas.openxmlformats.org/drawingml/2006/main">
              <a:ext uri="{FF2B5EF4-FFF2-40B4-BE49-F238E27FC236}">
                <a16:creationId xmlns:a16="http://schemas.microsoft.com/office/drawing/2014/main" id="{7F097AEF-3DA1-433C-B5BA-01D78735B3CA}"/>
              </a:ext>
            </a:extLst>
          </p:cNvPr>
          <p:cNvSpPr>
            <a:spLocks xmlns:a="http://schemas.openxmlformats.org/drawingml/2006/main" noGrp="1"/>
          </p:cNvSpPr>
          <p:nvPr/>
        </p:nvSpPr>
        <p:spPr>
          <a:xfrm xmlns:a="http://schemas.openxmlformats.org/drawingml/2006/main">
            <a:off x="704850" y="3114675"/>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250" b="1">
                <a:solidFill>
                  <a:srgbClr val="111111"/>
                </a:solidFill>
              </a:defRPr>
            </a:pPr>
            <a:r>
              <a:rPr sz="2250" b="1">
                <a:solidFill>
                  <a:srgbClr val="111111"/>
                </a:solidFill>
              </a:rPr>
              <a:t>Nhu cầu đang được đăng</a:t>
            </a:r>
          </a:p>
        </p:txBody>
      </p:sp>
      <p:sp>
        <p:nvSpPr>
          <p:cNvPr id="8" name="signal-body">
            <a:extLst xmlns:a="http://schemas.openxmlformats.org/drawingml/2006/main">
              <a:ext uri="{FF2B5EF4-FFF2-40B4-BE49-F238E27FC236}">
                <a16:creationId xmlns:a16="http://schemas.microsoft.com/office/drawing/2014/main" id="{F609D78B-8416-4841-990D-3EF9FA362173}"/>
              </a:ext>
            </a:extLst>
          </p:cNvPr>
          <p:cNvSpPr>
            <a:spLocks xmlns:a="http://schemas.openxmlformats.org/drawingml/2006/main" noGrp="1"/>
          </p:cNvSpPr>
          <p:nvPr/>
        </p:nvSpPr>
        <p:spPr>
          <a:xfrm xmlns:a="http://schemas.openxmlformats.org/drawingml/2006/main">
            <a:off x="704850" y="3724275"/>
            <a:ext cx="4038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425">
                <a:solidFill>
                  <a:srgbClr val="595959"/>
                </a:solidFill>
              </a:defRPr>
            </a:pPr>
            <a:r>
              <a:rPr sz="1425">
                <a:solidFill>
                  <a:srgbClr val="595959"/>
                </a:solidFill>
              </a:rPr>
              <a:t>Đếm tin và kỹ năng xuất hiện trong các job posting được thu thập.</a:t>
            </a:r>
          </a:p>
          <a:p xmlns:a="http://schemas.openxmlformats.org/drawingml/2006/main">
            <a:r>
              <a:t/>
            </a:r>
          </a:p>
          <a:p xmlns:a="http://schemas.openxmlformats.org/drawingml/2006/main">
            <a:pPr>
              <a:buNone/>
              <a:defRPr sz="1425">
                <a:solidFill>
                  <a:srgbClr val="595959"/>
                </a:solidFill>
              </a:defRPr>
            </a:pPr>
            <a:r>
              <a:rPr sz="1425">
                <a:solidFill>
                  <a:srgbClr val="595959"/>
                </a:solidFill>
              </a:rPr>
              <a:t>Kết quả là tín hiệu mô tả, không phải thị phần thị trường.</a:t>
            </a:r>
          </a:p>
        </p:txBody>
      </p:sp>
      <p:sp>
        <p:nvSpPr>
          <p:cNvPr id="9" name="forecast-kicker">
            <a:extLst xmlns:a="http://schemas.openxmlformats.org/drawingml/2006/main">
              <a:ext uri="{FF2B5EF4-FFF2-40B4-BE49-F238E27FC236}">
                <a16:creationId xmlns:a16="http://schemas.microsoft.com/office/drawing/2014/main" id="{7676FFFC-C862-4A60-9620-313752FC76DB}"/>
              </a:ext>
            </a:extLst>
          </p:cNvPr>
          <p:cNvSpPr>
            <a:spLocks xmlns:a="http://schemas.openxmlformats.org/drawingml/2006/main" noGrp="1"/>
          </p:cNvSpPr>
          <p:nvPr/>
        </p:nvSpPr>
        <p:spPr>
          <a:xfrm xmlns:a="http://schemas.openxmlformats.org/drawingml/2006/main">
            <a:off x="6496050" y="2705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FF6B35"/>
                </a:solidFill>
              </a:defRPr>
            </a:pPr>
            <a:r>
              <a:rPr sz="1050" b="1">
                <a:solidFill>
                  <a:srgbClr val="FF6B35"/>
                </a:solidFill>
              </a:rPr>
              <a:t>DỰ BÁO ĐÚNG NGHĨA</a:t>
            </a:r>
          </a:p>
        </p:txBody>
      </p:sp>
      <p:sp>
        <p:nvSpPr>
          <p:cNvPr id="10" name="forecast-title">
            <a:extLst xmlns:a="http://schemas.openxmlformats.org/drawingml/2006/main">
              <a:ext uri="{FF2B5EF4-FFF2-40B4-BE49-F238E27FC236}">
                <a16:creationId xmlns:a16="http://schemas.microsoft.com/office/drawing/2014/main" id="{0447EDF8-6867-4D7C-96E0-27353ECCA692}"/>
              </a:ext>
            </a:extLst>
          </p:cNvPr>
          <p:cNvSpPr>
            <a:spLocks xmlns:a="http://schemas.openxmlformats.org/drawingml/2006/main" noGrp="1"/>
          </p:cNvSpPr>
          <p:nvPr/>
        </p:nvSpPr>
        <p:spPr>
          <a:xfrm xmlns:a="http://schemas.openxmlformats.org/drawingml/2006/main">
            <a:off x="6496050" y="3114675"/>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250" b="1">
                <a:solidFill>
                  <a:srgbClr val="111111"/>
                </a:solidFill>
              </a:defRPr>
            </a:pPr>
            <a:r>
              <a:rPr sz="2250" b="1">
                <a:solidFill>
                  <a:srgbClr val="111111"/>
                </a:solidFill>
              </a:rPr>
              <a:t>Xu hướng tương lai</a:t>
            </a:r>
          </a:p>
        </p:txBody>
      </p:sp>
      <p:sp>
        <p:nvSpPr>
          <p:cNvPr id="11" name="forecast-body">
            <a:extLst xmlns:a="http://schemas.openxmlformats.org/drawingml/2006/main">
              <a:ext uri="{FF2B5EF4-FFF2-40B4-BE49-F238E27FC236}">
                <a16:creationId xmlns:a16="http://schemas.microsoft.com/office/drawing/2014/main" id="{72D91171-4D68-4FD2-BF91-2D428C098A35}"/>
              </a:ext>
            </a:extLst>
          </p:cNvPr>
          <p:cNvSpPr>
            <a:spLocks xmlns:a="http://schemas.openxmlformats.org/drawingml/2006/main" noGrp="1"/>
          </p:cNvSpPr>
          <p:nvPr/>
        </p:nvSpPr>
        <p:spPr>
          <a:xfrm xmlns:a="http://schemas.openxmlformats.org/drawingml/2006/main">
            <a:off x="6496050" y="3724275"/>
            <a:ext cx="4038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425">
                <a:solidFill>
                  <a:srgbClr val="595959"/>
                </a:solidFill>
              </a:defRPr>
            </a:pPr>
            <a:r>
              <a:rPr sz="1425">
                <a:solidFill>
                  <a:srgbClr val="595959"/>
                </a:solidFill>
              </a:rPr>
              <a:t>Cần nhiều lần crawl cùng thiết kế theo tuần/tháng và kiểm định theo thời gian.</a:t>
            </a:r>
          </a:p>
          <a:p xmlns:a="http://schemas.openxmlformats.org/drawingml/2006/main">
            <a:r>
              <a:t/>
            </a:r>
          </a:p>
          <a:p xmlns:a="http://schemas.openxmlformats.org/drawingml/2006/main">
            <a:pPr>
              <a:buNone/>
              <a:defRPr sz="1425">
                <a:solidFill>
                  <a:srgbClr val="595959"/>
                </a:solidFill>
              </a:defRPr>
            </a:pPr>
            <a:r>
              <a:rPr sz="1425">
                <a:solidFill>
                  <a:srgbClr val="595959"/>
                </a:solidFill>
              </a:rPr>
              <a:t>Dataset hiện tại chưa đáp ứng điều kiện đó.</a:t>
            </a:r>
          </a:p>
        </p:txBody>
      </p:sp>
      <p:sp>
        <p:nvSpPr>
          <p:cNvPr id="12" name="rule">
            <a:extLst xmlns:a="http://schemas.openxmlformats.org/drawingml/2006/main">
              <a:ext uri="{FF2B5EF4-FFF2-40B4-BE49-F238E27FC236}">
                <a16:creationId xmlns:a16="http://schemas.microsoft.com/office/drawing/2014/main" id="{BBE271ED-8B47-4E1A-BC4F-063D0039FB59}"/>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3" name="source">
            <a:extLst xmlns:a="http://schemas.openxmlformats.org/drawingml/2006/main">
              <a:ext uri="{FF2B5EF4-FFF2-40B4-BE49-F238E27FC236}">
                <a16:creationId xmlns:a16="http://schemas.microsoft.com/office/drawing/2014/main" id="{73AE6D16-9396-4833-A2D0-D71F5788139F}"/>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review pipeline và data/analysis/jobs_analysis_clean.csv</a:t>
            </a:r>
          </a:p>
        </p:txBody>
      </p:sp>
      <p:sp>
        <p:nvSpPr>
          <p:cNvPr id="14" name="slide-number">
            <a:extLst xmlns:a="http://schemas.openxmlformats.org/drawingml/2006/main">
              <a:ext uri="{FF2B5EF4-FFF2-40B4-BE49-F238E27FC236}">
                <a16:creationId xmlns:a16="http://schemas.microsoft.com/office/drawing/2014/main" id="{D22B4E4D-9046-4FEB-A184-31086C559717}"/>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02</a:t>
            </a:r>
          </a:p>
        </p:txBody>
      </p:sp>
    </p:spTree>
    <p:extLst>
      <p:ext uri="{BB962C8B-B14F-4D97-AF65-F5344CB8AC3E}">
        <p14:creationId xmlns:p14="http://schemas.microsoft.com/office/powerpoint/2010/main" val="3185610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A5A0656-E561-4827-833E-F5E456633A43}"/>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02 — CRAWLER MINH HOẠ TỪ CODE</a:t>
            </a:r>
          </a:p>
        </p:txBody>
      </p:sp>
      <p:sp>
        <p:nvSpPr>
          <p:cNvPr id="2" name="title">
            <a:extLst xmlns:a="http://schemas.openxmlformats.org/drawingml/2006/main">
              <a:ext uri="{FF2B5EF4-FFF2-40B4-BE49-F238E27FC236}">
                <a16:creationId xmlns:a16="http://schemas.microsoft.com/office/drawing/2014/main" id="{86A5119A-29FF-4D20-B11A-0C3EDDCE3990}"/>
              </a:ext>
            </a:extLst>
          </p:cNvPr>
          <p:cNvSpPr>
            <a:spLocks xmlns:a="http://schemas.openxmlformats.org/drawingml/2006/main" noGrp="1"/>
          </p:cNvSpPr>
          <p:nvPr/>
        </p:nvSpPr>
        <p:spPr>
          <a:xfrm xmlns:a="http://schemas.openxmlformats.org/drawingml/2006/main">
            <a:off x="400050" y="781050"/>
            <a:ext cx="895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300" b="1">
                <a:solidFill>
                  <a:srgbClr val="111111"/>
                </a:solidFill>
              </a:defRPr>
            </a:pPr>
            <a:r>
              <a:rPr sz="3300" b="1">
                <a:solidFill>
                  <a:srgbClr val="111111"/>
                </a:solidFill>
              </a:rPr>
              <a:t>Crawler lấy dữ liệu như thế nào?</a:t>
            </a:r>
          </a:p>
        </p:txBody>
      </p:sp>
      <p:sp>
        <p:nvSpPr>
          <p:cNvPr id="3" name="subtitle">
            <a:extLst xmlns:a="http://schemas.openxmlformats.org/drawingml/2006/main">
              <a:ext uri="{FF2B5EF4-FFF2-40B4-BE49-F238E27FC236}">
                <a16:creationId xmlns:a16="http://schemas.microsoft.com/office/drawing/2014/main" id="{FAF24576-92BF-41F7-8BAD-3683A950FE6D}"/>
              </a:ext>
            </a:extLst>
          </p:cNvPr>
          <p:cNvSpPr>
            <a:spLocks xmlns:a="http://schemas.openxmlformats.org/drawingml/2006/main" noGrp="1"/>
          </p:cNvSpPr>
          <p:nvPr/>
        </p:nvSpPr>
        <p:spPr>
          <a:xfrm xmlns:a="http://schemas.openxmlformats.org/drawingml/2006/main">
            <a:off x="400050" y="14668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5959"/>
                </a:solidFill>
              </a:defRPr>
            </a:pPr>
            <a:r>
              <a:rPr sz="1500">
                <a:solidFill>
                  <a:srgbClr val="595959"/>
                </a:solidFill>
              </a:rPr>
              <a:t>Mỗi tin tuyển dụng đi qua ba bước trực quan — crawler chỉ lưu bằng chứng, parser xử lý ở bước sau.</a:t>
            </a:r>
          </a:p>
        </p:txBody>
      </p:sp>
      <p:sp>
        <p:nvSpPr>
          <p:cNvPr id="4" name="crawl-arrow-1">
            <a:extLst xmlns:a="http://schemas.openxmlformats.org/drawingml/2006/main">
              <a:ext uri="{FF2B5EF4-FFF2-40B4-BE49-F238E27FC236}">
                <a16:creationId xmlns:a16="http://schemas.microsoft.com/office/drawing/2014/main" id="{1860A815-AE28-45FD-912E-C7C635418F6F}"/>
              </a:ext>
            </a:extLst>
          </p:cNvPr>
          <p:cNvSpPr>
            <a:spLocks xmlns:a="http://schemas.openxmlformats.org/drawingml/2006/main" noGrp="1"/>
          </p:cNvSpPr>
          <p:nvPr/>
        </p:nvSpPr>
        <p:spPr>
          <a:xfrm xmlns:a="http://schemas.openxmlformats.org/drawingml/2006/main">
            <a:off x="3448050" y="3733800"/>
            <a:ext cx="1104900" cy="38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5" name="crawl-arrow-1-head">
            <a:extLst xmlns:a="http://schemas.openxmlformats.org/drawingml/2006/main">
              <a:ext uri="{FF2B5EF4-FFF2-40B4-BE49-F238E27FC236}">
                <a16:creationId xmlns:a16="http://schemas.microsoft.com/office/drawing/2014/main" id="{D1C1A41B-8E56-4E00-995B-A973E5417F15}"/>
              </a:ext>
            </a:extLst>
          </p:cNvPr>
          <p:cNvSpPr>
            <a:spLocks xmlns:a="http://schemas.openxmlformats.org/drawingml/2006/main" noGrp="1"/>
          </p:cNvSpPr>
          <p:nvPr/>
        </p:nvSpPr>
        <p:spPr>
          <a:xfrm xmlns:a="http://schemas.openxmlformats.org/drawingml/2006/main">
            <a:off x="4305300" y="3476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900" b="1">
                <a:solidFill>
                  <a:srgbClr val="FF6B35"/>
                </a:solidFill>
              </a:defRPr>
            </a:pPr>
            <a:r>
              <a:rPr sz="3900" b="1">
                <a:solidFill>
                  <a:srgbClr val="FF6B35"/>
                </a:solidFill>
              </a:rPr>
              <a:t>›</a:t>
            </a:r>
          </a:p>
        </p:txBody>
      </p:sp>
      <p:sp>
        <p:nvSpPr>
          <p:cNvPr id="6" name="crawl-arrow-2">
            <a:extLst xmlns:a="http://schemas.openxmlformats.org/drawingml/2006/main">
              <a:ext uri="{FF2B5EF4-FFF2-40B4-BE49-F238E27FC236}">
                <a16:creationId xmlns:a16="http://schemas.microsoft.com/office/drawing/2014/main" id="{1410F3A7-6EF0-4D9E-9028-165BBF8154D5}"/>
              </a:ext>
            </a:extLst>
          </p:cNvPr>
          <p:cNvSpPr>
            <a:spLocks xmlns:a="http://schemas.openxmlformats.org/drawingml/2006/main" noGrp="1"/>
          </p:cNvSpPr>
          <p:nvPr/>
        </p:nvSpPr>
        <p:spPr>
          <a:xfrm xmlns:a="http://schemas.openxmlformats.org/drawingml/2006/main">
            <a:off x="7620000" y="3733800"/>
            <a:ext cx="1123950" cy="38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7" name="crawl-arrow-2-head">
            <a:extLst xmlns:a="http://schemas.openxmlformats.org/drawingml/2006/main">
              <a:ext uri="{FF2B5EF4-FFF2-40B4-BE49-F238E27FC236}">
                <a16:creationId xmlns:a16="http://schemas.microsoft.com/office/drawing/2014/main" id="{FE2B34AF-B548-4361-B79F-72C548765A33}"/>
              </a:ext>
            </a:extLst>
          </p:cNvPr>
          <p:cNvSpPr>
            <a:spLocks xmlns:a="http://schemas.openxmlformats.org/drawingml/2006/main" noGrp="1"/>
          </p:cNvSpPr>
          <p:nvPr/>
        </p:nvSpPr>
        <p:spPr>
          <a:xfrm xmlns:a="http://schemas.openxmlformats.org/drawingml/2006/main">
            <a:off x="8496300" y="3476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900" b="1">
                <a:solidFill>
                  <a:srgbClr val="FF6B35"/>
                </a:solidFill>
              </a:defRPr>
            </a:pPr>
            <a:r>
              <a:rPr sz="3900" b="1">
                <a:solidFill>
                  <a:srgbClr val="FF6B35"/>
                </a:solidFill>
              </a:rPr>
              <a:t>›</a:t>
            </a:r>
          </a:p>
        </p:txBody>
      </p:sp>
      <p:sp>
        <p:nvSpPr>
          <p:cNvPr id="8" name="source-card">
            <a:extLst xmlns:a="http://schemas.openxmlformats.org/drawingml/2006/main">
              <a:ext uri="{FF2B5EF4-FFF2-40B4-BE49-F238E27FC236}">
                <a16:creationId xmlns:a16="http://schemas.microsoft.com/office/drawing/2014/main" id="{3BB7DEED-FF90-476F-8E9F-DF3E005AF113}"/>
              </a:ext>
            </a:extLst>
          </p:cNvPr>
          <p:cNvSpPr>
            <a:spLocks xmlns:a="http://schemas.openxmlformats.org/drawingml/2006/main" noGrp="1"/>
          </p:cNvSpPr>
          <p:nvPr/>
        </p:nvSpPr>
        <p:spPr>
          <a:xfrm xmlns:a="http://schemas.openxmlformats.org/drawingml/2006/main">
            <a:off x="400050" y="2171700"/>
            <a:ext cx="3048000" cy="3105150"/>
          </a:xfrm>
          <a:prstGeom xmlns:a="http://schemas.openxmlformats.org/drawingml/2006/main" prst="roundRect">
            <a:avLst>
              <a:gd name="adj" fmla="val 2500"/>
            </a:avLst>
          </a:prstGeom>
          <a:solidFill xmlns:a="http://schemas.openxmlformats.org/drawingml/2006/main">
            <a:srgbClr val="F7F7F7"/>
          </a:solidFill>
          <a:ln xmlns:a="http://schemas.openxmlformats.org/drawingml/2006/main" w="9525">
            <a:solidFill>
              <a:srgbClr val="D7D9DD"/>
            </a:solidFill>
            <a:prstDash val="solid"/>
          </a:ln>
        </p:spPr>
      </p:sp>
      <p:sp>
        <p:nvSpPr>
          <p:cNvPr id="9" name="source-step">
            <a:extLst xmlns:a="http://schemas.openxmlformats.org/drawingml/2006/main">
              <a:ext uri="{FF2B5EF4-FFF2-40B4-BE49-F238E27FC236}">
                <a16:creationId xmlns:a16="http://schemas.microsoft.com/office/drawing/2014/main" id="{EB7B19F0-29D6-4147-B8CB-A246F1F887DE}"/>
              </a:ext>
            </a:extLst>
          </p:cNvPr>
          <p:cNvSpPr>
            <a:spLocks xmlns:a="http://schemas.openxmlformats.org/drawingml/2006/main" noGrp="1"/>
          </p:cNvSpPr>
          <p:nvPr/>
        </p:nvSpPr>
        <p:spPr>
          <a:xfrm xmlns:a="http://schemas.openxmlformats.org/drawingml/2006/main">
            <a:off x="638175"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01</a:t>
            </a:r>
          </a:p>
        </p:txBody>
      </p:sp>
      <p:sp>
        <p:nvSpPr>
          <p:cNvPr id="10" name="source-title">
            <a:extLst xmlns:a="http://schemas.openxmlformats.org/drawingml/2006/main">
              <a:ext uri="{FF2B5EF4-FFF2-40B4-BE49-F238E27FC236}">
                <a16:creationId xmlns:a16="http://schemas.microsoft.com/office/drawing/2014/main" id="{957719B4-5CB7-4C57-9442-AADB847F50DE}"/>
              </a:ext>
            </a:extLst>
          </p:cNvPr>
          <p:cNvSpPr>
            <a:spLocks xmlns:a="http://schemas.openxmlformats.org/drawingml/2006/main" noGrp="1"/>
          </p:cNvSpPr>
          <p:nvPr/>
        </p:nvSpPr>
        <p:spPr>
          <a:xfrm xmlns:a="http://schemas.openxmlformats.org/drawingml/2006/main">
            <a:off x="638175" y="2714625"/>
            <a:ext cx="2476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111111"/>
                </a:solidFill>
              </a:defRPr>
            </a:pPr>
            <a:r>
              <a:rPr sz="1575" b="1">
                <a:solidFill>
                  <a:srgbClr val="111111"/>
                </a:solidFill>
              </a:rPr>
              <a:t>Trang tuyển dụng công khai</a:t>
            </a:r>
          </a:p>
        </p:txBody>
      </p:sp>
      <p:sp>
        <p:nvSpPr>
          <p:cNvPr id="11" name="browser-window">
            <a:extLst xmlns:a="http://schemas.openxmlformats.org/drawingml/2006/main">
              <a:ext uri="{FF2B5EF4-FFF2-40B4-BE49-F238E27FC236}">
                <a16:creationId xmlns:a16="http://schemas.microsoft.com/office/drawing/2014/main" id="{2F098AD4-ADFF-4E10-AB4A-3D89798303F8}"/>
              </a:ext>
            </a:extLst>
          </p:cNvPr>
          <p:cNvSpPr>
            <a:spLocks xmlns:a="http://schemas.openxmlformats.org/drawingml/2006/main" noGrp="1"/>
          </p:cNvSpPr>
          <p:nvPr/>
        </p:nvSpPr>
        <p:spPr>
          <a:xfrm xmlns:a="http://schemas.openxmlformats.org/drawingml/2006/main">
            <a:off x="638175" y="3181350"/>
            <a:ext cx="25717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7CBD1"/>
            </a:solidFill>
            <a:prstDash val="solid"/>
          </a:ln>
        </p:spPr>
      </p:sp>
      <p:sp>
        <p:nvSpPr>
          <p:cNvPr id="12" name="browser-topbar">
            <a:extLst xmlns:a="http://schemas.openxmlformats.org/drawingml/2006/main">
              <a:ext uri="{FF2B5EF4-FFF2-40B4-BE49-F238E27FC236}">
                <a16:creationId xmlns:a16="http://schemas.microsoft.com/office/drawing/2014/main" id="{2CFB782B-5303-4B53-B082-B9CCE435D661}"/>
              </a:ext>
            </a:extLst>
          </p:cNvPr>
          <p:cNvSpPr>
            <a:spLocks xmlns:a="http://schemas.openxmlformats.org/drawingml/2006/main" noGrp="1"/>
          </p:cNvSpPr>
          <p:nvPr/>
        </p:nvSpPr>
        <p:spPr>
          <a:xfrm xmlns:a="http://schemas.openxmlformats.org/drawingml/2006/main">
            <a:off x="638175" y="3181350"/>
            <a:ext cx="2571750" cy="266700"/>
          </a:xfrm>
          <a:prstGeom xmlns:a="http://schemas.openxmlformats.org/drawingml/2006/main" prst="roundRect">
            <a:avLst>
              <a:gd name="adj" fmla="val 28571"/>
            </a:avLst>
          </a:prstGeom>
          <a:solidFill xmlns:a="http://schemas.openxmlformats.org/drawingml/2006/main">
            <a:srgbClr val="ECEEF1"/>
          </a:solidFill>
          <a:ln xmlns:a="http://schemas.openxmlformats.org/drawingml/2006/main" w="0">
            <a:noFill/>
            <a:prstDash val="solid"/>
          </a:ln>
        </p:spPr>
      </p:sp>
      <p:sp>
        <p:nvSpPr>
          <p:cNvPr id="13" name="browser-dot-1">
            <a:extLst xmlns:a="http://schemas.openxmlformats.org/drawingml/2006/main">
              <a:ext uri="{FF2B5EF4-FFF2-40B4-BE49-F238E27FC236}">
                <a16:creationId xmlns:a16="http://schemas.microsoft.com/office/drawing/2014/main" id="{9A1BF692-4D45-44DF-897F-C749AC10EA2E}"/>
              </a:ext>
            </a:extLst>
          </p:cNvPr>
          <p:cNvSpPr>
            <a:spLocks xmlns:a="http://schemas.openxmlformats.org/drawingml/2006/main" noGrp="1"/>
          </p:cNvSpPr>
          <p:nvPr/>
        </p:nvSpPr>
        <p:spPr>
          <a:xfrm xmlns:a="http://schemas.openxmlformats.org/drawingml/2006/main">
            <a:off x="771525" y="3276600"/>
            <a:ext cx="76200" cy="76200"/>
          </a:xfrm>
          <a:prstGeom xmlns:a="http://schemas.openxmlformats.org/drawingml/2006/main" prst="ellipse">
            <a:avLst/>
          </a:prstGeom>
          <a:solidFill xmlns:a="http://schemas.openxmlformats.org/drawingml/2006/main">
            <a:srgbClr val="FF7E5F"/>
          </a:solidFill>
          <a:ln xmlns:a="http://schemas.openxmlformats.org/drawingml/2006/main" w="0">
            <a:noFill/>
            <a:prstDash val="solid"/>
          </a:ln>
        </p:spPr>
      </p:sp>
      <p:sp>
        <p:nvSpPr>
          <p:cNvPr id="14" name="browser-dot-2">
            <a:extLst xmlns:a="http://schemas.openxmlformats.org/drawingml/2006/main">
              <a:ext uri="{FF2B5EF4-FFF2-40B4-BE49-F238E27FC236}">
                <a16:creationId xmlns:a16="http://schemas.microsoft.com/office/drawing/2014/main" id="{E6AD9132-045C-4227-9E9B-108BFE3C2F9D}"/>
              </a:ext>
            </a:extLst>
          </p:cNvPr>
          <p:cNvSpPr>
            <a:spLocks xmlns:a="http://schemas.openxmlformats.org/drawingml/2006/main" noGrp="1"/>
          </p:cNvSpPr>
          <p:nvPr/>
        </p:nvSpPr>
        <p:spPr>
          <a:xfrm xmlns:a="http://schemas.openxmlformats.org/drawingml/2006/main">
            <a:off x="895350" y="3276600"/>
            <a:ext cx="76200" cy="76200"/>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5" name="browser-dot-3">
            <a:extLst xmlns:a="http://schemas.openxmlformats.org/drawingml/2006/main">
              <a:ext uri="{FF2B5EF4-FFF2-40B4-BE49-F238E27FC236}">
                <a16:creationId xmlns:a16="http://schemas.microsoft.com/office/drawing/2014/main" id="{98592B21-5693-4BB0-9022-BDE03A9BCE07}"/>
              </a:ext>
            </a:extLst>
          </p:cNvPr>
          <p:cNvSpPr>
            <a:spLocks xmlns:a="http://schemas.openxmlformats.org/drawingml/2006/main" noGrp="1"/>
          </p:cNvSpPr>
          <p:nvPr/>
        </p:nvSpPr>
        <p:spPr>
          <a:xfrm xmlns:a="http://schemas.openxmlformats.org/drawingml/2006/main">
            <a:off x="1019175" y="3276600"/>
            <a:ext cx="76200" cy="76200"/>
          </a:xfrm>
          <a:prstGeom xmlns:a="http://schemas.openxmlformats.org/drawingml/2006/main" prst="ellipse">
            <a:avLst/>
          </a:prstGeom>
          <a:solidFill xmlns:a="http://schemas.openxmlformats.org/drawingml/2006/main">
            <a:srgbClr val="5CB85C"/>
          </a:solidFill>
          <a:ln xmlns:a="http://schemas.openxmlformats.org/drawingml/2006/main" w="0">
            <a:noFill/>
            <a:prstDash val="solid"/>
          </a:ln>
        </p:spPr>
      </p:sp>
      <p:sp>
        <p:nvSpPr>
          <p:cNvPr id="16" name="browser-company">
            <a:extLst xmlns:a="http://schemas.openxmlformats.org/drawingml/2006/main">
              <a:ext uri="{FF2B5EF4-FFF2-40B4-BE49-F238E27FC236}">
                <a16:creationId xmlns:a16="http://schemas.microsoft.com/office/drawing/2014/main" id="{37E8BCFB-8177-42DB-919E-03602AA78E1D}"/>
              </a:ext>
            </a:extLst>
          </p:cNvPr>
          <p:cNvSpPr>
            <a:spLocks xmlns:a="http://schemas.openxmlformats.org/drawingml/2006/main" noGrp="1"/>
          </p:cNvSpPr>
          <p:nvPr/>
        </p:nvSpPr>
        <p:spPr>
          <a:xfrm xmlns:a="http://schemas.openxmlformats.org/drawingml/2006/main">
            <a:off x="828675" y="3609975"/>
            <a:ext cx="19431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750" b="1">
                <a:solidFill>
                  <a:srgbClr val="FF6B35"/>
                </a:solidFill>
              </a:defRPr>
            </a:pPr>
            <a:r>
              <a:rPr sz="750" b="1">
                <a:solidFill>
                  <a:srgbClr val="FF6B35"/>
                </a:solidFill>
              </a:rPr>
              <a:t>IT JOB • HỒ CHÍ MINH</a:t>
            </a:r>
          </a:p>
        </p:txBody>
      </p:sp>
      <p:sp>
        <p:nvSpPr>
          <p:cNvPr id="17" name="browser-job">
            <a:extLst xmlns:a="http://schemas.openxmlformats.org/drawingml/2006/main">
              <a:ext uri="{FF2B5EF4-FFF2-40B4-BE49-F238E27FC236}">
                <a16:creationId xmlns:a16="http://schemas.microsoft.com/office/drawing/2014/main" id="{C4C0045F-AD1A-40FD-BBF9-107C7DA73B2D}"/>
              </a:ext>
            </a:extLst>
          </p:cNvPr>
          <p:cNvSpPr>
            <a:spLocks xmlns:a="http://schemas.openxmlformats.org/drawingml/2006/main" noGrp="1"/>
          </p:cNvSpPr>
          <p:nvPr/>
        </p:nvSpPr>
        <p:spPr>
          <a:xfrm xmlns:a="http://schemas.openxmlformats.org/drawingml/2006/main">
            <a:off x="828675" y="3819525"/>
            <a:ext cx="2057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111111"/>
                </a:solidFill>
              </a:defRPr>
            </a:pPr>
            <a:r>
              <a:rPr sz="1350" b="1">
                <a:solidFill>
                  <a:srgbClr val="111111"/>
                </a:solidFill>
              </a:rPr>
              <a:t>Backend Developer</a:t>
            </a:r>
          </a:p>
        </p:txBody>
      </p:sp>
      <p:sp>
        <p:nvSpPr>
          <p:cNvPr id="18" name="browser-line-1">
            <a:extLst xmlns:a="http://schemas.openxmlformats.org/drawingml/2006/main">
              <a:ext uri="{FF2B5EF4-FFF2-40B4-BE49-F238E27FC236}">
                <a16:creationId xmlns:a16="http://schemas.microsoft.com/office/drawing/2014/main" id="{D37EC5E0-4CAC-4D54-B9AE-D56D255B1355}"/>
              </a:ext>
            </a:extLst>
          </p:cNvPr>
          <p:cNvSpPr>
            <a:spLocks xmlns:a="http://schemas.openxmlformats.org/drawingml/2006/main" noGrp="1"/>
          </p:cNvSpPr>
          <p:nvPr/>
        </p:nvSpPr>
        <p:spPr>
          <a:xfrm xmlns:a="http://schemas.openxmlformats.org/drawingml/2006/main">
            <a:off x="828675" y="4181475"/>
            <a:ext cx="1562100" cy="66675"/>
          </a:xfrm>
          <a:prstGeom xmlns:a="http://schemas.openxmlformats.org/drawingml/2006/main" prst="roundRect">
            <a:avLst>
              <a:gd name="adj" fmla="val 50000"/>
            </a:avLst>
          </a:prstGeom>
          <a:solidFill xmlns:a="http://schemas.openxmlformats.org/drawingml/2006/main">
            <a:srgbClr val="D9DDE2"/>
          </a:solidFill>
          <a:ln xmlns:a="http://schemas.openxmlformats.org/drawingml/2006/main" w="0">
            <a:noFill/>
            <a:prstDash val="solid"/>
          </a:ln>
        </p:spPr>
      </p:sp>
      <p:sp>
        <p:nvSpPr>
          <p:cNvPr id="19" name="browser-line-2">
            <a:extLst xmlns:a="http://schemas.openxmlformats.org/drawingml/2006/main">
              <a:ext uri="{FF2B5EF4-FFF2-40B4-BE49-F238E27FC236}">
                <a16:creationId xmlns:a16="http://schemas.microsoft.com/office/drawing/2014/main" id="{674D19A3-813E-4199-A9EA-4A69DCAB71EE}"/>
              </a:ext>
            </a:extLst>
          </p:cNvPr>
          <p:cNvSpPr>
            <a:spLocks xmlns:a="http://schemas.openxmlformats.org/drawingml/2006/main" noGrp="1"/>
          </p:cNvSpPr>
          <p:nvPr/>
        </p:nvSpPr>
        <p:spPr>
          <a:xfrm xmlns:a="http://schemas.openxmlformats.org/drawingml/2006/main">
            <a:off x="828675" y="4324350"/>
            <a:ext cx="2000250" cy="66675"/>
          </a:xfrm>
          <a:prstGeom xmlns:a="http://schemas.openxmlformats.org/drawingml/2006/main" prst="roundRect">
            <a:avLst>
              <a:gd name="adj" fmla="val 50000"/>
            </a:avLst>
          </a:prstGeom>
          <a:solidFill xmlns:a="http://schemas.openxmlformats.org/drawingml/2006/main">
            <a:srgbClr val="E4E7EA"/>
          </a:solidFill>
          <a:ln xmlns:a="http://schemas.openxmlformats.org/drawingml/2006/main" w="0">
            <a:noFill/>
            <a:prstDash val="solid"/>
          </a:ln>
        </p:spPr>
      </p:sp>
      <p:sp>
        <p:nvSpPr>
          <p:cNvPr id="20" name="browser-chip">
            <a:extLst xmlns:a="http://schemas.openxmlformats.org/drawingml/2006/main">
              <a:ext uri="{FF2B5EF4-FFF2-40B4-BE49-F238E27FC236}">
                <a16:creationId xmlns:a16="http://schemas.microsoft.com/office/drawing/2014/main" id="{8B25D00B-FAA8-435F-B779-EBCE9E7A240D}"/>
              </a:ext>
            </a:extLst>
          </p:cNvPr>
          <p:cNvSpPr>
            <a:spLocks xmlns:a="http://schemas.openxmlformats.org/drawingml/2006/main" noGrp="1"/>
          </p:cNvSpPr>
          <p:nvPr/>
        </p:nvSpPr>
        <p:spPr>
          <a:xfrm xmlns:a="http://schemas.openxmlformats.org/drawingml/2006/main">
            <a:off x="828675" y="4486275"/>
            <a:ext cx="581025" cy="152400"/>
          </a:xfrm>
          <a:prstGeom xmlns:a="http://schemas.openxmlformats.org/drawingml/2006/main" prst="roundRect">
            <a:avLst>
              <a:gd name="adj" fmla="val 50000"/>
            </a:avLst>
          </a:prstGeom>
          <a:solidFill xmlns:a="http://schemas.openxmlformats.org/drawingml/2006/main">
            <a:srgbClr val="FFF0E9"/>
          </a:solidFill>
          <a:ln xmlns:a="http://schemas.openxmlformats.org/drawingml/2006/main" w="0">
            <a:noFill/>
            <a:prstDash val="solid"/>
          </a:ln>
        </p:spPr>
      </p:sp>
      <p:sp>
        <p:nvSpPr>
          <p:cNvPr id="21" name="browser-chip-label">
            <a:extLst xmlns:a="http://schemas.openxmlformats.org/drawingml/2006/main">
              <a:ext uri="{FF2B5EF4-FFF2-40B4-BE49-F238E27FC236}">
                <a16:creationId xmlns:a16="http://schemas.microsoft.com/office/drawing/2014/main" id="{9DB4A13D-3F7A-45F4-9D04-2058AB76126D}"/>
              </a:ext>
            </a:extLst>
          </p:cNvPr>
          <p:cNvSpPr>
            <a:spLocks xmlns:a="http://schemas.openxmlformats.org/drawingml/2006/main" noGrp="1"/>
          </p:cNvSpPr>
          <p:nvPr/>
        </p:nvSpPr>
        <p:spPr>
          <a:xfrm xmlns:a="http://schemas.openxmlformats.org/drawingml/2006/main">
            <a:off x="923925" y="4505325"/>
            <a:ext cx="409575"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675" b="1">
                <a:solidFill>
                  <a:srgbClr val="FF6B35"/>
                </a:solidFill>
              </a:defRPr>
            </a:pPr>
            <a:r>
              <a:rPr sz="675" b="1">
                <a:solidFill>
                  <a:srgbClr val="FF6B35"/>
                </a:solidFill>
              </a:rPr>
              <a:t>PY</a:t>
            </a:r>
          </a:p>
        </p:txBody>
      </p:sp>
      <p:sp>
        <p:nvSpPr>
          <p:cNvPr id="22" name="source-caption">
            <a:extLst xmlns:a="http://schemas.openxmlformats.org/drawingml/2006/main">
              <a:ext uri="{FF2B5EF4-FFF2-40B4-BE49-F238E27FC236}">
                <a16:creationId xmlns:a16="http://schemas.microsoft.com/office/drawing/2014/main" id="{F0928A97-34B4-4294-A3A0-59A3A3893589}"/>
              </a:ext>
            </a:extLst>
          </p:cNvPr>
          <p:cNvSpPr>
            <a:spLocks xmlns:a="http://schemas.openxmlformats.org/drawingml/2006/main" noGrp="1"/>
          </p:cNvSpPr>
          <p:nvPr/>
        </p:nvSpPr>
        <p:spPr>
          <a:xfrm xmlns:a="http://schemas.openxmlformats.org/drawingml/2006/main">
            <a:off x="638175" y="493395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a:solidFill>
                  <a:srgbClr val="595959"/>
                </a:solidFill>
              </a:defRPr>
            </a:pPr>
            <a:r>
              <a:rPr sz="975">
                <a:solidFill>
                  <a:srgbClr val="595959"/>
                </a:solidFill>
              </a:rPr>
              <a:t>ITviec  •  TopCV  •  TopDev</a:t>
            </a:r>
          </a:p>
        </p:txBody>
      </p:sp>
      <p:sp>
        <p:nvSpPr>
          <p:cNvPr id="23" name="crawler-card">
            <a:extLst xmlns:a="http://schemas.openxmlformats.org/drawingml/2006/main">
              <a:ext uri="{FF2B5EF4-FFF2-40B4-BE49-F238E27FC236}">
                <a16:creationId xmlns:a16="http://schemas.microsoft.com/office/drawing/2014/main" id="{749871CC-4FBF-431F-A335-40598ED8209E}"/>
              </a:ext>
            </a:extLst>
          </p:cNvPr>
          <p:cNvSpPr>
            <a:spLocks xmlns:a="http://schemas.openxmlformats.org/drawingml/2006/main" noGrp="1"/>
          </p:cNvSpPr>
          <p:nvPr/>
        </p:nvSpPr>
        <p:spPr>
          <a:xfrm xmlns:a="http://schemas.openxmlformats.org/drawingml/2006/main">
            <a:off x="4552950" y="2171700"/>
            <a:ext cx="3067050" cy="3105150"/>
          </a:xfrm>
          <a:prstGeom xmlns:a="http://schemas.openxmlformats.org/drawingml/2006/main" prst="roundRect">
            <a:avLst>
              <a:gd name="adj" fmla="val 2484"/>
            </a:avLst>
          </a:prstGeom>
          <a:solidFill xmlns:a="http://schemas.openxmlformats.org/drawingml/2006/main">
            <a:srgbClr val="202124"/>
          </a:solidFill>
          <a:ln xmlns:a="http://schemas.openxmlformats.org/drawingml/2006/main" w="0">
            <a:noFill/>
            <a:prstDash val="solid"/>
          </a:ln>
        </p:spPr>
      </p:sp>
      <p:sp>
        <p:nvSpPr>
          <p:cNvPr id="24" name="crawler-step">
            <a:extLst xmlns:a="http://schemas.openxmlformats.org/drawingml/2006/main">
              <a:ext uri="{FF2B5EF4-FFF2-40B4-BE49-F238E27FC236}">
                <a16:creationId xmlns:a16="http://schemas.microsoft.com/office/drawing/2014/main" id="{C794571B-866A-4FAD-BE83-E45B4CDDDFC5}"/>
              </a:ext>
            </a:extLst>
          </p:cNvPr>
          <p:cNvSpPr>
            <a:spLocks xmlns:a="http://schemas.openxmlformats.org/drawingml/2006/main" noGrp="1"/>
          </p:cNvSpPr>
          <p:nvPr/>
        </p:nvSpPr>
        <p:spPr>
          <a:xfrm xmlns:a="http://schemas.openxmlformats.org/drawingml/2006/main">
            <a:off x="4800600"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02</a:t>
            </a:r>
          </a:p>
        </p:txBody>
      </p:sp>
      <p:sp>
        <p:nvSpPr>
          <p:cNvPr id="25" name="crawler-title">
            <a:extLst xmlns:a="http://schemas.openxmlformats.org/drawingml/2006/main">
              <a:ext uri="{FF2B5EF4-FFF2-40B4-BE49-F238E27FC236}">
                <a16:creationId xmlns:a16="http://schemas.microsoft.com/office/drawing/2014/main" id="{7B41D2E1-34E6-4F8B-A0F3-B30A3AE83967}"/>
              </a:ext>
            </a:extLst>
          </p:cNvPr>
          <p:cNvSpPr>
            <a:spLocks xmlns:a="http://schemas.openxmlformats.org/drawingml/2006/main" noGrp="1"/>
          </p:cNvSpPr>
          <p:nvPr/>
        </p:nvSpPr>
        <p:spPr>
          <a:xfrm xmlns:a="http://schemas.openxmlformats.org/drawingml/2006/main">
            <a:off x="4800600" y="271462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FFFFFF"/>
                </a:solidFill>
              </a:defRPr>
            </a:pPr>
            <a:r>
              <a:rPr sz="1650" b="1">
                <a:solidFill>
                  <a:srgbClr val="FFFFFF"/>
                </a:solidFill>
              </a:rPr>
              <a:t>Python crawler</a:t>
            </a:r>
          </a:p>
        </p:txBody>
      </p:sp>
      <p:sp>
        <p:nvSpPr>
          <p:cNvPr id="26" name="crawler-code-icon">
            <a:extLst xmlns:a="http://schemas.openxmlformats.org/drawingml/2006/main">
              <a:ext uri="{FF2B5EF4-FFF2-40B4-BE49-F238E27FC236}">
                <a16:creationId xmlns:a16="http://schemas.microsoft.com/office/drawing/2014/main" id="{E868E06A-9DCD-478F-8776-F6C2A131D6F3}"/>
              </a:ext>
            </a:extLst>
          </p:cNvPr>
          <p:cNvSpPr>
            <a:spLocks xmlns:a="http://schemas.openxmlformats.org/drawingml/2006/main" noGrp="1"/>
          </p:cNvSpPr>
          <p:nvPr/>
        </p:nvSpPr>
        <p:spPr>
          <a:xfrm xmlns:a="http://schemas.openxmlformats.org/drawingml/2006/main">
            <a:off x="4800600" y="3267075"/>
            <a:ext cx="609600" cy="609600"/>
          </a:xfrm>
          <a:prstGeom xmlns:a="http://schemas.openxmlformats.org/drawingml/2006/main" prst="roundRect">
            <a:avLst>
              <a:gd name="adj" fmla="val 12500"/>
            </a:avLst>
          </a:prstGeom>
          <a:solidFill xmlns:a="http://schemas.openxmlformats.org/drawingml/2006/main">
            <a:srgbClr val="2C333B"/>
          </a:solidFill>
          <a:ln xmlns:a="http://schemas.openxmlformats.org/drawingml/2006/main" w="0">
            <a:noFill/>
            <a:prstDash val="solid"/>
          </a:ln>
        </p:spPr>
      </p:sp>
      <p:sp>
        <p:nvSpPr>
          <p:cNvPr id="27" name="crawler-code-icon-text">
            <a:extLst xmlns:a="http://schemas.openxmlformats.org/drawingml/2006/main">
              <a:ext uri="{FF2B5EF4-FFF2-40B4-BE49-F238E27FC236}">
                <a16:creationId xmlns:a16="http://schemas.microsoft.com/office/drawing/2014/main" id="{A4CC7A14-A8A7-4E4D-B2A1-6B30F97BDF57}"/>
              </a:ext>
            </a:extLst>
          </p:cNvPr>
          <p:cNvSpPr>
            <a:spLocks xmlns:a="http://schemas.openxmlformats.org/drawingml/2006/main" noGrp="1"/>
          </p:cNvSpPr>
          <p:nvPr/>
        </p:nvSpPr>
        <p:spPr>
          <a:xfrm xmlns:a="http://schemas.openxmlformats.org/drawingml/2006/main">
            <a:off x="4895850" y="3409950"/>
            <a:ext cx="419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6B35"/>
                </a:solidFill>
              </a:defRPr>
            </a:pPr>
            <a:r>
              <a:rPr sz="1200" b="1">
                <a:solidFill>
                  <a:srgbClr val="FF6B35"/>
                </a:solidFill>
              </a:rPr>
              <a:t>&lt;/&gt;</a:t>
            </a:r>
          </a:p>
        </p:txBody>
      </p:sp>
      <p:sp>
        <p:nvSpPr>
          <p:cNvPr id="28" name="crawler-request">
            <a:extLst xmlns:a="http://schemas.openxmlformats.org/drawingml/2006/main">
              <a:ext uri="{FF2B5EF4-FFF2-40B4-BE49-F238E27FC236}">
                <a16:creationId xmlns:a16="http://schemas.microsoft.com/office/drawing/2014/main" id="{D8CC142E-5265-4142-85EA-3698B2FA201A}"/>
              </a:ext>
            </a:extLst>
          </p:cNvPr>
          <p:cNvSpPr>
            <a:spLocks xmlns:a="http://schemas.openxmlformats.org/drawingml/2006/main" noGrp="1"/>
          </p:cNvSpPr>
          <p:nvPr/>
        </p:nvSpPr>
        <p:spPr>
          <a:xfrm xmlns:a="http://schemas.openxmlformats.org/drawingml/2006/main">
            <a:off x="5581650" y="33337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FFFFFF"/>
                </a:solidFill>
              </a:defRPr>
            </a:pPr>
            <a:r>
              <a:rPr sz="1350" b="1">
                <a:solidFill>
                  <a:srgbClr val="FFFFFF"/>
                </a:solidFill>
              </a:rPr>
              <a:t>fetch_url(url)</a:t>
            </a:r>
          </a:p>
        </p:txBody>
      </p:sp>
      <p:sp>
        <p:nvSpPr>
          <p:cNvPr id="29" name="crawler-request-sub">
            <a:extLst xmlns:a="http://schemas.openxmlformats.org/drawingml/2006/main">
              <a:ext uri="{FF2B5EF4-FFF2-40B4-BE49-F238E27FC236}">
                <a16:creationId xmlns:a16="http://schemas.microsoft.com/office/drawing/2014/main" id="{83003802-CAE0-41C9-97F7-B21601E73FAE}"/>
              </a:ext>
            </a:extLst>
          </p:cNvPr>
          <p:cNvSpPr>
            <a:spLocks xmlns:a="http://schemas.openxmlformats.org/drawingml/2006/main" noGrp="1"/>
          </p:cNvSpPr>
          <p:nvPr/>
        </p:nvSpPr>
        <p:spPr>
          <a:xfrm xmlns:a="http://schemas.openxmlformats.org/drawingml/2006/main">
            <a:off x="5581650" y="3600450"/>
            <a:ext cx="16478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75">
                <a:solidFill>
                  <a:srgbClr val="BAC0C7"/>
                </a:solidFill>
              </a:defRPr>
            </a:pPr>
            <a:r>
              <a:rPr sz="975">
                <a:solidFill>
                  <a:srgbClr val="BAC0C7"/>
                </a:solidFill>
              </a:rPr>
              <a:t>mỗi trang một request</a:t>
            </a:r>
          </a:p>
        </p:txBody>
      </p:sp>
      <p:sp>
        <p:nvSpPr>
          <p:cNvPr id="30" name="robots-pill">
            <a:extLst xmlns:a="http://schemas.openxmlformats.org/drawingml/2006/main">
              <a:ext uri="{FF2B5EF4-FFF2-40B4-BE49-F238E27FC236}">
                <a16:creationId xmlns:a16="http://schemas.microsoft.com/office/drawing/2014/main" id="{446683DD-852F-41C5-8A62-BD1457A3CC28}"/>
              </a:ext>
            </a:extLst>
          </p:cNvPr>
          <p:cNvSpPr>
            <a:spLocks xmlns:a="http://schemas.openxmlformats.org/drawingml/2006/main" noGrp="1"/>
          </p:cNvSpPr>
          <p:nvPr/>
        </p:nvSpPr>
        <p:spPr>
          <a:xfrm xmlns:a="http://schemas.openxmlformats.org/drawingml/2006/main">
            <a:off x="4800600" y="4171950"/>
            <a:ext cx="1104900" cy="323850"/>
          </a:xfrm>
          <a:prstGeom xmlns:a="http://schemas.openxmlformats.org/drawingml/2006/main" prst="roundRect">
            <a:avLst>
              <a:gd name="adj" fmla="val 23529"/>
            </a:avLst>
          </a:prstGeom>
          <a:solidFill xmlns:a="http://schemas.openxmlformats.org/drawingml/2006/main">
            <a:srgbClr val="253239"/>
          </a:solidFill>
          <a:ln xmlns:a="http://schemas.openxmlformats.org/drawingml/2006/main" w="0">
            <a:noFill/>
            <a:prstDash val="solid"/>
          </a:ln>
        </p:spPr>
      </p:sp>
      <p:sp>
        <p:nvSpPr>
          <p:cNvPr id="31" name="robots-pill-text">
            <a:extLst xmlns:a="http://schemas.openxmlformats.org/drawingml/2006/main">
              <a:ext uri="{FF2B5EF4-FFF2-40B4-BE49-F238E27FC236}">
                <a16:creationId xmlns:a16="http://schemas.microsoft.com/office/drawing/2014/main" id="{51AA6AB6-1A08-48BA-9FE8-85610F584860}"/>
              </a:ext>
            </a:extLst>
          </p:cNvPr>
          <p:cNvSpPr>
            <a:spLocks xmlns:a="http://schemas.openxmlformats.org/drawingml/2006/main" noGrp="1"/>
          </p:cNvSpPr>
          <p:nvPr/>
        </p:nvSpPr>
        <p:spPr>
          <a:xfrm xmlns:a="http://schemas.openxmlformats.org/drawingml/2006/main">
            <a:off x="4895850" y="4267200"/>
            <a:ext cx="914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DE5C8"/>
                </a:solidFill>
              </a:defRPr>
            </a:pPr>
            <a:r>
              <a:rPr sz="900" b="1">
                <a:solidFill>
                  <a:srgbClr val="BDE5C8"/>
                </a:solidFill>
              </a:rPr>
              <a:t>robots.txt ✓</a:t>
            </a:r>
          </a:p>
        </p:txBody>
      </p:sp>
      <p:sp>
        <p:nvSpPr>
          <p:cNvPr id="32" name="delay-pill">
            <a:extLst xmlns:a="http://schemas.openxmlformats.org/drawingml/2006/main">
              <a:ext uri="{FF2B5EF4-FFF2-40B4-BE49-F238E27FC236}">
                <a16:creationId xmlns:a16="http://schemas.microsoft.com/office/drawing/2014/main" id="{3F95DEA1-A4BE-4616-8BAA-D47445F77FEC}"/>
              </a:ext>
            </a:extLst>
          </p:cNvPr>
          <p:cNvSpPr>
            <a:spLocks xmlns:a="http://schemas.openxmlformats.org/drawingml/2006/main" noGrp="1"/>
          </p:cNvSpPr>
          <p:nvPr/>
        </p:nvSpPr>
        <p:spPr>
          <a:xfrm xmlns:a="http://schemas.openxmlformats.org/drawingml/2006/main">
            <a:off x="6019800" y="4171950"/>
            <a:ext cx="1104900" cy="323850"/>
          </a:xfrm>
          <a:prstGeom xmlns:a="http://schemas.openxmlformats.org/drawingml/2006/main" prst="roundRect">
            <a:avLst>
              <a:gd name="adj" fmla="val 23529"/>
            </a:avLst>
          </a:prstGeom>
          <a:solidFill xmlns:a="http://schemas.openxmlformats.org/drawingml/2006/main">
            <a:srgbClr val="3A2D26"/>
          </a:solidFill>
          <a:ln xmlns:a="http://schemas.openxmlformats.org/drawingml/2006/main" w="0">
            <a:noFill/>
            <a:prstDash val="solid"/>
          </a:ln>
        </p:spPr>
      </p:sp>
      <p:sp>
        <p:nvSpPr>
          <p:cNvPr id="33" name="delay-pill-text">
            <a:extLst xmlns:a="http://schemas.openxmlformats.org/drawingml/2006/main">
              <a:ext uri="{FF2B5EF4-FFF2-40B4-BE49-F238E27FC236}">
                <a16:creationId xmlns:a16="http://schemas.microsoft.com/office/drawing/2014/main" id="{40EF17E0-DFD1-4A62-9CE3-9EBB41EA887D}"/>
              </a:ext>
            </a:extLst>
          </p:cNvPr>
          <p:cNvSpPr>
            <a:spLocks xmlns:a="http://schemas.openxmlformats.org/drawingml/2006/main" noGrp="1"/>
          </p:cNvSpPr>
          <p:nvPr/>
        </p:nvSpPr>
        <p:spPr>
          <a:xfrm xmlns:a="http://schemas.openxmlformats.org/drawingml/2006/main">
            <a:off x="6115050" y="4267200"/>
            <a:ext cx="914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FFD3C4"/>
                </a:solidFill>
              </a:defRPr>
            </a:pPr>
            <a:r>
              <a:rPr sz="900" b="1">
                <a:solidFill>
                  <a:srgbClr val="FFD3C4"/>
                </a:solidFill>
              </a:rPr>
              <a:t>delay 2–4s</a:t>
            </a:r>
          </a:p>
        </p:txBody>
      </p:sp>
      <p:sp>
        <p:nvSpPr>
          <p:cNvPr id="34" name="crawler-caption">
            <a:extLst xmlns:a="http://schemas.openxmlformats.org/drawingml/2006/main">
              <a:ext uri="{FF2B5EF4-FFF2-40B4-BE49-F238E27FC236}">
                <a16:creationId xmlns:a16="http://schemas.microsoft.com/office/drawing/2014/main" id="{11452D30-7751-4AE3-8CB9-DA604D150BB4}"/>
              </a:ext>
            </a:extLst>
          </p:cNvPr>
          <p:cNvSpPr>
            <a:spLocks xmlns:a="http://schemas.openxmlformats.org/drawingml/2006/main" noGrp="1"/>
          </p:cNvSpPr>
          <p:nvPr/>
        </p:nvSpPr>
        <p:spPr>
          <a:xfrm xmlns:a="http://schemas.openxmlformats.org/drawingml/2006/main">
            <a:off x="4800600" y="4867275"/>
            <a:ext cx="2457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a:solidFill>
                  <a:srgbClr val="BAC0C7"/>
                </a:solidFill>
              </a:defRPr>
            </a:pPr>
            <a:r>
              <a:rPr sz="1050">
                <a:solidFill>
                  <a:srgbClr val="BAC0C7"/>
                </a:solidFill>
              </a:rPr>
              <a:t>Tuần tự • low-rate • không login</a:t>
            </a:r>
          </a:p>
        </p:txBody>
      </p:sp>
      <p:sp>
        <p:nvSpPr>
          <p:cNvPr id="35" name="raw-card">
            <a:extLst xmlns:a="http://schemas.openxmlformats.org/drawingml/2006/main">
              <a:ext uri="{FF2B5EF4-FFF2-40B4-BE49-F238E27FC236}">
                <a16:creationId xmlns:a16="http://schemas.microsoft.com/office/drawing/2014/main" id="{8CEB6643-4A8F-4259-A36B-D87CA265ED4A}"/>
              </a:ext>
            </a:extLst>
          </p:cNvPr>
          <p:cNvSpPr>
            <a:spLocks xmlns:a="http://schemas.openxmlformats.org/drawingml/2006/main" noGrp="1"/>
          </p:cNvSpPr>
          <p:nvPr/>
        </p:nvSpPr>
        <p:spPr>
          <a:xfrm xmlns:a="http://schemas.openxmlformats.org/drawingml/2006/main">
            <a:off x="8743950" y="2171700"/>
            <a:ext cx="3048000" cy="3105150"/>
          </a:xfrm>
          <a:prstGeom xmlns:a="http://schemas.openxmlformats.org/drawingml/2006/main" prst="roundRect">
            <a:avLst>
              <a:gd name="adj" fmla="val 2500"/>
            </a:avLst>
          </a:prstGeom>
          <a:solidFill xmlns:a="http://schemas.openxmlformats.org/drawingml/2006/main">
            <a:srgbClr val="F7F7F7"/>
          </a:solidFill>
          <a:ln xmlns:a="http://schemas.openxmlformats.org/drawingml/2006/main" w="9525">
            <a:solidFill>
              <a:srgbClr val="D7D9DD"/>
            </a:solidFill>
            <a:prstDash val="solid"/>
          </a:ln>
        </p:spPr>
      </p:sp>
      <p:sp>
        <p:nvSpPr>
          <p:cNvPr id="36" name="raw-step">
            <a:extLst xmlns:a="http://schemas.openxmlformats.org/drawingml/2006/main">
              <a:ext uri="{FF2B5EF4-FFF2-40B4-BE49-F238E27FC236}">
                <a16:creationId xmlns:a16="http://schemas.microsoft.com/office/drawing/2014/main" id="{E9358E5E-5CFE-4FB6-B9F1-9795EFB7B119}"/>
              </a:ext>
            </a:extLst>
          </p:cNvPr>
          <p:cNvSpPr>
            <a:spLocks xmlns:a="http://schemas.openxmlformats.org/drawingml/2006/main" noGrp="1"/>
          </p:cNvSpPr>
          <p:nvPr/>
        </p:nvSpPr>
        <p:spPr>
          <a:xfrm xmlns:a="http://schemas.openxmlformats.org/drawingml/2006/main">
            <a:off x="8982075"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03</a:t>
            </a:r>
          </a:p>
        </p:txBody>
      </p:sp>
      <p:sp>
        <p:nvSpPr>
          <p:cNvPr id="37" name="raw-title">
            <a:extLst xmlns:a="http://schemas.openxmlformats.org/drawingml/2006/main">
              <a:ext uri="{FF2B5EF4-FFF2-40B4-BE49-F238E27FC236}">
                <a16:creationId xmlns:a16="http://schemas.microsoft.com/office/drawing/2014/main" id="{880406BB-2694-42DC-B09E-36F942AF927F}"/>
              </a:ext>
            </a:extLst>
          </p:cNvPr>
          <p:cNvSpPr>
            <a:spLocks xmlns:a="http://schemas.openxmlformats.org/drawingml/2006/main" noGrp="1"/>
          </p:cNvSpPr>
          <p:nvPr/>
        </p:nvSpPr>
        <p:spPr>
          <a:xfrm xmlns:a="http://schemas.openxmlformats.org/drawingml/2006/main">
            <a:off x="8982075" y="2714625"/>
            <a:ext cx="2400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111111"/>
                </a:solidFill>
              </a:defRPr>
            </a:pPr>
            <a:r>
              <a:rPr sz="1575" b="1">
                <a:solidFill>
                  <a:srgbClr val="111111"/>
                </a:solidFill>
              </a:rPr>
              <a:t>Raw JSONL được append</a:t>
            </a:r>
          </a:p>
        </p:txBody>
      </p:sp>
      <p:sp>
        <p:nvSpPr>
          <p:cNvPr id="38" name="raw-terminal">
            <a:extLst xmlns:a="http://schemas.openxmlformats.org/drawingml/2006/main">
              <a:ext uri="{FF2B5EF4-FFF2-40B4-BE49-F238E27FC236}">
                <a16:creationId xmlns:a16="http://schemas.microsoft.com/office/drawing/2014/main" id="{656ED3F7-A5EA-4445-9E86-D25B4FF357DA}"/>
              </a:ext>
            </a:extLst>
          </p:cNvPr>
          <p:cNvSpPr>
            <a:spLocks xmlns:a="http://schemas.openxmlformats.org/drawingml/2006/main" noGrp="1"/>
          </p:cNvSpPr>
          <p:nvPr/>
        </p:nvSpPr>
        <p:spPr>
          <a:xfrm xmlns:a="http://schemas.openxmlformats.org/drawingml/2006/main">
            <a:off x="8982075" y="3181350"/>
            <a:ext cx="2571750" cy="1619250"/>
          </a:xfrm>
          <a:prstGeom xmlns:a="http://schemas.openxmlformats.org/drawingml/2006/main" prst="roundRect">
            <a:avLst>
              <a:gd name="adj" fmla="val 4706"/>
            </a:avLst>
          </a:prstGeom>
          <a:solidFill xmlns:a="http://schemas.openxmlformats.org/drawingml/2006/main">
            <a:srgbClr val="202124"/>
          </a:solidFill>
          <a:ln xmlns:a="http://schemas.openxmlformats.org/drawingml/2006/main" w="0">
            <a:noFill/>
            <a:prstDash val="solid"/>
          </a:ln>
        </p:spPr>
      </p:sp>
      <p:sp>
        <p:nvSpPr>
          <p:cNvPr id="39" name="raw-terminal-title">
            <a:extLst xmlns:a="http://schemas.openxmlformats.org/drawingml/2006/main">
              <a:ext uri="{FF2B5EF4-FFF2-40B4-BE49-F238E27FC236}">
                <a16:creationId xmlns:a16="http://schemas.microsoft.com/office/drawing/2014/main" id="{BE727367-FE7B-4FED-9638-154E56926827}"/>
              </a:ext>
            </a:extLst>
          </p:cNvPr>
          <p:cNvSpPr>
            <a:spLocks xmlns:a="http://schemas.openxmlformats.org/drawingml/2006/main" noGrp="1"/>
          </p:cNvSpPr>
          <p:nvPr/>
        </p:nvSpPr>
        <p:spPr>
          <a:xfrm xmlns:a="http://schemas.openxmlformats.org/drawingml/2006/main">
            <a:off x="9134475" y="33337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b="1">
                <a:solidFill>
                  <a:srgbClr val="FF6B35"/>
                </a:solidFill>
              </a:defRPr>
            </a:pPr>
            <a:r>
              <a:rPr sz="825" b="1">
                <a:solidFill>
                  <a:srgbClr val="FF6B35"/>
                </a:solidFill>
              </a:rPr>
              <a:t>data/raw/*.jsonl</a:t>
            </a:r>
          </a:p>
        </p:txBody>
      </p:sp>
      <p:sp>
        <p:nvSpPr>
          <p:cNvPr id="40" name="raw-json">
            <a:extLst xmlns:a="http://schemas.openxmlformats.org/drawingml/2006/main">
              <a:ext uri="{FF2B5EF4-FFF2-40B4-BE49-F238E27FC236}">
                <a16:creationId xmlns:a16="http://schemas.microsoft.com/office/drawing/2014/main" id="{A9787F76-25C0-443B-941C-FB856CF6DE61}"/>
              </a:ext>
            </a:extLst>
          </p:cNvPr>
          <p:cNvSpPr>
            <a:spLocks xmlns:a="http://schemas.openxmlformats.org/drawingml/2006/main" noGrp="1"/>
          </p:cNvSpPr>
          <p:nvPr/>
        </p:nvSpPr>
        <p:spPr>
          <a:xfrm xmlns:a="http://schemas.openxmlformats.org/drawingml/2006/main">
            <a:off x="9134475" y="3581400"/>
            <a:ext cx="22383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00000"/>
              </a:lnSpc>
              <a:buNone/>
              <a:defRPr sz="900">
                <a:solidFill>
                  <a:srgbClr val="F3F4F6"/>
                </a:solidFill>
              </a:defRPr>
            </a:pPr>
            <a:r>
              <a:rPr sz="900">
                <a:solidFill>
                  <a:srgbClr val="F3F4F6"/>
                </a:solidFill>
              </a:rPr>
              <a:t>{</a:t>
            </a:r>
          </a:p>
          <a:p xmlns:a="http://schemas.openxmlformats.org/drawingml/2006/main">
            <a:pPr>
              <a:lnSpc>
                <a:spcPct val="100000"/>
              </a:lnSpc>
              <a:buNone/>
              <a:defRPr sz="900">
                <a:solidFill>
                  <a:srgbClr val="F3F4F6"/>
                </a:solidFill>
              </a:defRPr>
            </a:pPr>
            <a:r>
              <a:rPr sz="900">
                <a:solidFill>
                  <a:srgbClr val="F3F4F6"/>
                </a:solidFill>
              </a:rPr>
              <a:t>  "html": "&lt;html&gt;…",</a:t>
            </a:r>
          </a:p>
          <a:p xmlns:a="http://schemas.openxmlformats.org/drawingml/2006/main">
            <a:pPr>
              <a:lnSpc>
                <a:spcPct val="100000"/>
              </a:lnSpc>
              <a:buNone/>
              <a:defRPr sz="900">
                <a:solidFill>
                  <a:srgbClr val="F3F4F6"/>
                </a:solidFill>
              </a:defRPr>
            </a:pPr>
            <a:r>
              <a:rPr sz="900">
                <a:solidFill>
                  <a:srgbClr val="F3F4F6"/>
                </a:solidFill>
              </a:rPr>
              <a:t>  "json_ld": [JobPosting],</a:t>
            </a:r>
          </a:p>
          <a:p xmlns:a="http://schemas.openxmlformats.org/drawingml/2006/main">
            <a:pPr>
              <a:lnSpc>
                <a:spcPct val="100000"/>
              </a:lnSpc>
              <a:buNone/>
              <a:defRPr sz="900">
                <a:solidFill>
                  <a:srgbClr val="F3F4F6"/>
                </a:solidFill>
              </a:defRPr>
            </a:pPr>
            <a:r>
              <a:rPr sz="900">
                <a:solidFill>
                  <a:srgbClr val="F3F4F6"/>
                </a:solidFill>
              </a:rPr>
              <a:t>  "visible_text": "…",</a:t>
            </a:r>
          </a:p>
          <a:p xmlns:a="http://schemas.openxmlformats.org/drawingml/2006/main">
            <a:pPr>
              <a:lnSpc>
                <a:spcPct val="100000"/>
              </a:lnSpc>
              <a:buNone/>
              <a:defRPr sz="900">
                <a:solidFill>
                  <a:srgbClr val="F3F4F6"/>
                </a:solidFill>
              </a:defRPr>
            </a:pPr>
            <a:r>
              <a:rPr sz="900">
                <a:solidFill>
                  <a:srgbClr val="F3F4F6"/>
                </a:solidFill>
              </a:rPr>
              <a:t>  "scraped_at": "2026-07-02…"</a:t>
            </a:r>
          </a:p>
          <a:p xmlns:a="http://schemas.openxmlformats.org/drawingml/2006/main">
            <a:pPr>
              <a:lnSpc>
                <a:spcPct val="100000"/>
              </a:lnSpc>
              <a:buNone/>
              <a:defRPr sz="900">
                <a:solidFill>
                  <a:srgbClr val="F3F4F6"/>
                </a:solidFill>
              </a:defRPr>
            </a:pPr>
            <a:r>
              <a:rPr sz="900">
                <a:solidFill>
                  <a:srgbClr val="F3F4F6"/>
                </a:solidFill>
              </a:rPr>
              <a:t>}</a:t>
            </a:r>
          </a:p>
        </p:txBody>
      </p:sp>
      <p:sp>
        <p:nvSpPr>
          <p:cNvPr id="41" name="raw-caption">
            <a:extLst xmlns:a="http://schemas.openxmlformats.org/drawingml/2006/main">
              <a:ext uri="{FF2B5EF4-FFF2-40B4-BE49-F238E27FC236}">
                <a16:creationId xmlns:a16="http://schemas.microsoft.com/office/drawing/2014/main" id="{E182055F-A207-4338-BBDB-F38EA2F4CB38}"/>
              </a:ext>
            </a:extLst>
          </p:cNvPr>
          <p:cNvSpPr>
            <a:spLocks xmlns:a="http://schemas.openxmlformats.org/drawingml/2006/main" noGrp="1"/>
          </p:cNvSpPr>
          <p:nvPr/>
        </p:nvSpPr>
        <p:spPr>
          <a:xfrm xmlns:a="http://schemas.openxmlformats.org/drawingml/2006/main">
            <a:off x="8982075" y="4933950"/>
            <a:ext cx="2571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a:solidFill>
                  <a:srgbClr val="595959"/>
                </a:solidFill>
              </a:defRPr>
            </a:pPr>
            <a:r>
              <a:rPr sz="975">
                <a:solidFill>
                  <a:srgbClr val="595959"/>
                </a:solidFill>
              </a:rPr>
              <a:t>Dữ liệu gốc + timestamp</a:t>
            </a:r>
          </a:p>
        </p:txBody>
      </p:sp>
      <p:sp>
        <p:nvSpPr>
          <p:cNvPr id="42" name="crawl-outcome">
            <a:extLst xmlns:a="http://schemas.openxmlformats.org/drawingml/2006/main">
              <a:ext uri="{FF2B5EF4-FFF2-40B4-BE49-F238E27FC236}">
                <a16:creationId xmlns:a16="http://schemas.microsoft.com/office/drawing/2014/main" id="{8D32AFA9-CB4B-4440-96C4-C0DD316DA3AD}"/>
              </a:ext>
            </a:extLst>
          </p:cNvPr>
          <p:cNvSpPr>
            <a:spLocks xmlns:a="http://schemas.openxmlformats.org/drawingml/2006/main" noGrp="1"/>
          </p:cNvSpPr>
          <p:nvPr/>
        </p:nvSpPr>
        <p:spPr>
          <a:xfrm xmlns:a="http://schemas.openxmlformats.org/drawingml/2006/main">
            <a:off x="400050" y="5581650"/>
            <a:ext cx="11010900" cy="533400"/>
          </a:xfrm>
          <a:prstGeom xmlns:a="http://schemas.openxmlformats.org/drawingml/2006/main" prst="roundRect">
            <a:avLst>
              <a:gd name="adj" fmla="val 14286"/>
            </a:avLst>
          </a:prstGeom>
          <a:solidFill xmlns:a="http://schemas.openxmlformats.org/drawingml/2006/main">
            <a:srgbClr val="FFF0E9"/>
          </a:solidFill>
          <a:ln xmlns:a="http://schemas.openxmlformats.org/drawingml/2006/main" w="9525">
            <a:solidFill>
              <a:srgbClr val="FFD6C5"/>
            </a:solidFill>
            <a:prstDash val="solid"/>
          </a:ln>
        </p:spPr>
      </p:sp>
      <p:sp>
        <p:nvSpPr>
          <p:cNvPr id="43" name="crawl-outcome-text">
            <a:extLst xmlns:a="http://schemas.openxmlformats.org/drawingml/2006/main">
              <a:ext uri="{FF2B5EF4-FFF2-40B4-BE49-F238E27FC236}">
                <a16:creationId xmlns:a16="http://schemas.microsoft.com/office/drawing/2014/main" id="{CCEC061C-06E2-46B6-A932-6A87C8B24DC9}"/>
              </a:ext>
            </a:extLst>
          </p:cNvPr>
          <p:cNvSpPr>
            <a:spLocks xmlns:a="http://schemas.openxmlformats.org/drawingml/2006/main" noGrp="1"/>
          </p:cNvSpPr>
          <p:nvPr/>
        </p:nvSpPr>
        <p:spPr>
          <a:xfrm xmlns:a="http://schemas.openxmlformats.org/drawingml/2006/main">
            <a:off x="723900" y="5734050"/>
            <a:ext cx="1036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111111"/>
                </a:solidFill>
              </a:defRPr>
            </a:pPr>
            <a:r>
              <a:rPr sz="1350" b="1">
                <a:solidFill>
                  <a:srgbClr val="111111"/>
                </a:solidFill>
              </a:rPr>
              <a:t>Bằng chứng gốc được lưu lại để có thể sửa parser và chạy lại phân tích mà không phải crawl lại website.</a:t>
            </a:r>
          </a:p>
        </p:txBody>
      </p:sp>
      <p:sp>
        <p:nvSpPr>
          <p:cNvPr id="44" name="rule">
            <a:extLst xmlns:a="http://schemas.openxmlformats.org/drawingml/2006/main">
              <a:ext uri="{FF2B5EF4-FFF2-40B4-BE49-F238E27FC236}">
                <a16:creationId xmlns:a16="http://schemas.microsoft.com/office/drawing/2014/main" id="{BAFF6603-BE83-46BB-9D2A-A5FA6F357DF4}"/>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45" name="source">
            <a:extLst xmlns:a="http://schemas.openxmlformats.org/drawingml/2006/main">
              <a:ext uri="{FF2B5EF4-FFF2-40B4-BE49-F238E27FC236}">
                <a16:creationId xmlns:a16="http://schemas.microsoft.com/office/drawing/2014/main" id="{CC96B7E9-02F9-486A-8E69-6665BF3E78E4}"/>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scrapers/, parsers/, modeling/ • 48 unit tests passed</a:t>
            </a:r>
          </a:p>
        </p:txBody>
      </p:sp>
      <p:sp>
        <p:nvSpPr>
          <p:cNvPr id="46" name="slide-number">
            <a:extLst xmlns:a="http://schemas.openxmlformats.org/drawingml/2006/main">
              <a:ext uri="{FF2B5EF4-FFF2-40B4-BE49-F238E27FC236}">
                <a16:creationId xmlns:a16="http://schemas.microsoft.com/office/drawing/2014/main" id="{9CEB6EB5-1A7F-48DB-8E1E-6D5444CD7E33}"/>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03</a:t>
            </a:r>
          </a:p>
        </p:txBody>
      </p:sp>
    </p:spTree>
    <p:extLst>
      <p:ext uri="{BB962C8B-B14F-4D97-AF65-F5344CB8AC3E}">
        <p14:creationId xmlns:p14="http://schemas.microsoft.com/office/powerpoint/2010/main" val="1618942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27EDB46-7935-43E1-8741-37DE3DD255EC}"/>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03 — DATASET</a:t>
            </a:r>
          </a:p>
        </p:txBody>
      </p:sp>
      <p:sp>
        <p:nvSpPr>
          <p:cNvPr id="2" name="title">
            <a:extLst xmlns:a="http://schemas.openxmlformats.org/drawingml/2006/main">
              <a:ext uri="{FF2B5EF4-FFF2-40B4-BE49-F238E27FC236}">
                <a16:creationId xmlns:a16="http://schemas.microsoft.com/office/drawing/2014/main" id="{2E66E261-3D8B-4362-9597-CC0504ACEFEC}"/>
              </a:ext>
            </a:extLst>
          </p:cNvPr>
          <p:cNvSpPr>
            <a:spLocks xmlns:a="http://schemas.openxmlformats.org/drawingml/2006/main" noGrp="1"/>
          </p:cNvSpPr>
          <p:nvPr/>
        </p:nvSpPr>
        <p:spPr>
          <a:xfrm xmlns:a="http://schemas.openxmlformats.org/drawingml/2006/main">
            <a:off x="400050" y="7810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Snapshot dữ liệu hiện tại</a:t>
            </a:r>
          </a:p>
        </p:txBody>
      </p:sp>
      <p:sp>
        <p:nvSpPr>
          <p:cNvPr id="3" name="subtitle">
            <a:extLst xmlns:a="http://schemas.openxmlformats.org/drawingml/2006/main">
              <a:ext uri="{FF2B5EF4-FFF2-40B4-BE49-F238E27FC236}">
                <a16:creationId xmlns:a16="http://schemas.microsoft.com/office/drawing/2014/main" id="{EBD1F2C7-36F9-4AE9-BA04-A13DA06E79F1}"/>
              </a:ext>
            </a:extLst>
          </p:cNvPr>
          <p:cNvSpPr>
            <a:spLocks xmlns:a="http://schemas.openxmlformats.org/drawingml/2006/main" noGrp="1"/>
          </p:cNvSpPr>
          <p:nvPr/>
        </p:nvSpPr>
        <p:spPr>
          <a:xfrm xmlns:a="http://schemas.openxmlformats.org/drawingml/2006/main">
            <a:off x="400050" y="1504950"/>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a:solidFill>
                  <a:srgbClr val="595959"/>
                </a:solidFill>
              </a:defRPr>
            </a:pPr>
            <a:r>
              <a:rPr sz="1650">
                <a:solidFill>
                  <a:srgbClr val="595959"/>
                </a:solidFill>
              </a:rPr>
              <a:t>Sau dedupe theo URL: 1.433 tin tuyển dụng, thu thập trong ba ngày.</a:t>
            </a:r>
          </a:p>
        </p:txBody>
      </p:sp>
      <p:sp>
        <p:nvSpPr>
          <p:cNvPr id="4" name="csv-label">
            <a:extLst xmlns:a="http://schemas.openxmlformats.org/drawingml/2006/main">
              <a:ext uri="{FF2B5EF4-FFF2-40B4-BE49-F238E27FC236}">
                <a16:creationId xmlns:a16="http://schemas.microsoft.com/office/drawing/2014/main" id="{5922C050-2BBE-4878-9F2F-E8C4B8C0CA9B}"/>
              </a:ext>
            </a:extLst>
          </p:cNvPr>
          <p:cNvSpPr>
            <a:spLocks xmlns:a="http://schemas.openxmlformats.org/drawingml/2006/main" noGrp="1"/>
          </p:cNvSpPr>
          <p:nvPr/>
        </p:nvSpPr>
        <p:spPr>
          <a:xfrm xmlns:a="http://schemas.openxmlformats.org/drawingml/2006/main">
            <a:off x="400050" y="1962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75" b="1">
                <a:solidFill>
                  <a:srgbClr val="FF6B35"/>
                </a:solidFill>
              </a:defRPr>
            </a:pPr>
            <a:r>
              <a:rPr sz="975" b="1">
                <a:solidFill>
                  <a:srgbClr val="FF6B35"/>
                </a:solidFill>
              </a:rPr>
              <a:t>ẢNH PREVIEW TỪ jobs_analysis_clean.csv</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3281d76e07944b5"/>
          <a:stretch xmlns:a="http://schemas.openxmlformats.org/drawingml/2006/main"/>
        </p:blipFill>
        <p:spPr>
          <a:xfrm xmlns:a="http://schemas.openxmlformats.org/drawingml/2006/main">
            <a:off x="400050" y="2211243"/>
            <a:ext cx="11010900" cy="2168814"/>
          </a:xfrm>
          <a:prstGeom xmlns:a="http://schemas.openxmlformats.org/drawingml/2006/main" prst="rect">
            <a:avLst/>
          </a:prstGeom>
        </p:spPr>
      </p:pic>
      <p:sp>
        <p:nvSpPr>
          <p:cNvPr id="6" name="small-metric-panel">
            <a:extLst xmlns:a="http://schemas.openxmlformats.org/drawingml/2006/main">
              <a:ext uri="{FF2B5EF4-FFF2-40B4-BE49-F238E27FC236}">
                <a16:creationId xmlns:a16="http://schemas.microsoft.com/office/drawing/2014/main" id="{464ABEE8-1316-40B6-9080-9E6622FC1EC1}"/>
              </a:ext>
            </a:extLst>
          </p:cNvPr>
          <p:cNvSpPr>
            <a:spLocks xmlns:a="http://schemas.openxmlformats.org/drawingml/2006/main" noGrp="1"/>
          </p:cNvSpPr>
          <p:nvPr/>
        </p:nvSpPr>
        <p:spPr>
          <a:xfrm xmlns:a="http://schemas.openxmlformats.org/drawingml/2006/main">
            <a:off x="400050" y="4714875"/>
            <a:ext cx="3333750" cy="1276350"/>
          </a:xfrm>
          <a:prstGeom xmlns:a="http://schemas.openxmlformats.org/drawingml/2006/main" prst="roundRect">
            <a:avLst>
              <a:gd name="adj" fmla="val 5970"/>
            </a:avLst>
          </a:prstGeom>
          <a:solidFill xmlns:a="http://schemas.openxmlformats.org/drawingml/2006/main">
            <a:srgbClr val="FFF0E9"/>
          </a:solidFill>
          <a:ln xmlns:a="http://schemas.openxmlformats.org/drawingml/2006/main" w="0">
            <a:noFill/>
            <a:prstDash val="solid"/>
          </a:ln>
        </p:spPr>
      </p:sp>
      <p:sp>
        <p:nvSpPr>
          <p:cNvPr id="7" name="small-metric-value">
            <a:extLst xmlns:a="http://schemas.openxmlformats.org/drawingml/2006/main">
              <a:ext uri="{FF2B5EF4-FFF2-40B4-BE49-F238E27FC236}">
                <a16:creationId xmlns:a16="http://schemas.microsoft.com/office/drawing/2014/main" id="{B14C7D6F-1B70-4608-9BED-B56E4571ED1B}"/>
              </a:ext>
            </a:extLst>
          </p:cNvPr>
          <p:cNvSpPr>
            <a:spLocks xmlns:a="http://schemas.openxmlformats.org/drawingml/2006/main" noGrp="1"/>
          </p:cNvSpPr>
          <p:nvPr/>
        </p:nvSpPr>
        <p:spPr>
          <a:xfrm xmlns:a="http://schemas.openxmlformats.org/drawingml/2006/main">
            <a:off x="59055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FF6B35"/>
                </a:solidFill>
              </a:defRPr>
            </a:pPr>
            <a:r>
              <a:rPr sz="2775" b="1">
                <a:solidFill>
                  <a:srgbClr val="FF6B35"/>
                </a:solidFill>
              </a:rPr>
              <a:t>1.433</a:t>
            </a:r>
          </a:p>
        </p:txBody>
      </p:sp>
      <p:sp>
        <p:nvSpPr>
          <p:cNvPr id="8" name="small-metric-label">
            <a:extLst xmlns:a="http://schemas.openxmlformats.org/drawingml/2006/main">
              <a:ext uri="{FF2B5EF4-FFF2-40B4-BE49-F238E27FC236}">
                <a16:creationId xmlns:a16="http://schemas.microsoft.com/office/drawing/2014/main" id="{D5AE738D-8926-4F11-8F74-BA0827CBF7AA}"/>
              </a:ext>
            </a:extLst>
          </p:cNvPr>
          <p:cNvSpPr>
            <a:spLocks xmlns:a="http://schemas.openxmlformats.org/drawingml/2006/main" noGrp="1"/>
          </p:cNvSpPr>
          <p:nvPr/>
        </p:nvSpPr>
        <p:spPr>
          <a:xfrm xmlns:a="http://schemas.openxmlformats.org/drawingml/2006/main">
            <a:off x="59055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URL duy nhất sau dedupe</a:t>
            </a:r>
          </a:p>
        </p:txBody>
      </p:sp>
      <p:sp>
        <p:nvSpPr>
          <p:cNvPr id="9" name="small-metric-panel">
            <a:extLst xmlns:a="http://schemas.openxmlformats.org/drawingml/2006/main">
              <a:ext uri="{FF2B5EF4-FFF2-40B4-BE49-F238E27FC236}">
                <a16:creationId xmlns:a16="http://schemas.microsoft.com/office/drawing/2014/main" id="{5B028E4C-0CB3-4B70-A5B4-267F5F856B15}"/>
              </a:ext>
            </a:extLst>
          </p:cNvPr>
          <p:cNvSpPr>
            <a:spLocks xmlns:a="http://schemas.openxmlformats.org/drawingml/2006/main" noGrp="1"/>
          </p:cNvSpPr>
          <p:nvPr/>
        </p:nvSpPr>
        <p:spPr>
          <a:xfrm xmlns:a="http://schemas.openxmlformats.org/drawingml/2006/main">
            <a:off x="4152900" y="4714875"/>
            <a:ext cx="333375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0" name="small-metric-value">
            <a:extLst xmlns:a="http://schemas.openxmlformats.org/drawingml/2006/main">
              <a:ext uri="{FF2B5EF4-FFF2-40B4-BE49-F238E27FC236}">
                <a16:creationId xmlns:a16="http://schemas.microsoft.com/office/drawing/2014/main" id="{FC259A9C-870D-4955-8156-CCD5E10B8B56}"/>
              </a:ext>
            </a:extLst>
          </p:cNvPr>
          <p:cNvSpPr>
            <a:spLocks xmlns:a="http://schemas.openxmlformats.org/drawingml/2006/main" noGrp="1"/>
          </p:cNvSpPr>
          <p:nvPr/>
        </p:nvSpPr>
        <p:spPr>
          <a:xfrm xmlns:a="http://schemas.openxmlformats.org/drawingml/2006/main">
            <a:off x="434340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111111"/>
                </a:solidFill>
              </a:defRPr>
            </a:pPr>
            <a:r>
              <a:rPr sz="2775" b="1">
                <a:solidFill>
                  <a:srgbClr val="111111"/>
                </a:solidFill>
              </a:rPr>
              <a:t>35,2%</a:t>
            </a:r>
          </a:p>
        </p:txBody>
      </p:sp>
      <p:sp>
        <p:nvSpPr>
          <p:cNvPr id="11" name="small-metric-label">
            <a:extLst xmlns:a="http://schemas.openxmlformats.org/drawingml/2006/main">
              <a:ext uri="{FF2B5EF4-FFF2-40B4-BE49-F238E27FC236}">
                <a16:creationId xmlns:a16="http://schemas.microsoft.com/office/drawing/2014/main" id="{CC027AFD-C55B-4B3F-ADAD-FC5E0A92EA3B}"/>
              </a:ext>
            </a:extLst>
          </p:cNvPr>
          <p:cNvSpPr>
            <a:spLocks xmlns:a="http://schemas.openxmlformats.org/drawingml/2006/main" noGrp="1"/>
          </p:cNvSpPr>
          <p:nvPr/>
        </p:nvSpPr>
        <p:spPr>
          <a:xfrm xmlns:a="http://schemas.openxmlformats.org/drawingml/2006/main">
            <a:off x="434340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Tin có lương số</a:t>
            </a:r>
          </a:p>
        </p:txBody>
      </p:sp>
      <p:sp>
        <p:nvSpPr>
          <p:cNvPr id="12" name="small-metric-panel">
            <a:extLst xmlns:a="http://schemas.openxmlformats.org/drawingml/2006/main">
              <a:ext uri="{FF2B5EF4-FFF2-40B4-BE49-F238E27FC236}">
                <a16:creationId xmlns:a16="http://schemas.microsoft.com/office/drawing/2014/main" id="{92388AED-A17D-4101-8C00-28B69DFAA371}"/>
              </a:ext>
            </a:extLst>
          </p:cNvPr>
          <p:cNvSpPr>
            <a:spLocks xmlns:a="http://schemas.openxmlformats.org/drawingml/2006/main" noGrp="1"/>
          </p:cNvSpPr>
          <p:nvPr/>
        </p:nvSpPr>
        <p:spPr>
          <a:xfrm xmlns:a="http://schemas.openxmlformats.org/drawingml/2006/main">
            <a:off x="7905750" y="4714875"/>
            <a:ext cx="350520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3" name="small-metric-value">
            <a:extLst xmlns:a="http://schemas.openxmlformats.org/drawingml/2006/main">
              <a:ext uri="{FF2B5EF4-FFF2-40B4-BE49-F238E27FC236}">
                <a16:creationId xmlns:a16="http://schemas.microsoft.com/office/drawing/2014/main" id="{72D240B5-6EAF-44E3-9987-C216E5ACEC70}"/>
              </a:ext>
            </a:extLst>
          </p:cNvPr>
          <p:cNvSpPr>
            <a:spLocks xmlns:a="http://schemas.openxmlformats.org/drawingml/2006/main" noGrp="1"/>
          </p:cNvSpPr>
          <p:nvPr/>
        </p:nvSpPr>
        <p:spPr>
          <a:xfrm xmlns:a="http://schemas.openxmlformats.org/drawingml/2006/main">
            <a:off x="8096250" y="4886325"/>
            <a:ext cx="312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111111"/>
                </a:solidFill>
              </a:defRPr>
            </a:pPr>
            <a:r>
              <a:rPr sz="2775" b="1">
                <a:solidFill>
                  <a:srgbClr val="111111"/>
                </a:solidFill>
              </a:rPr>
              <a:t>750 / 583 / 100</a:t>
            </a:r>
          </a:p>
        </p:txBody>
      </p:sp>
      <p:sp>
        <p:nvSpPr>
          <p:cNvPr id="14" name="small-metric-label">
            <a:extLst xmlns:a="http://schemas.openxmlformats.org/drawingml/2006/main">
              <a:ext uri="{FF2B5EF4-FFF2-40B4-BE49-F238E27FC236}">
                <a16:creationId xmlns:a16="http://schemas.microsoft.com/office/drawing/2014/main" id="{5D32D97C-8A8C-4065-9A3B-D34D9C53ED1A}"/>
              </a:ext>
            </a:extLst>
          </p:cNvPr>
          <p:cNvSpPr>
            <a:spLocks xmlns:a="http://schemas.openxmlformats.org/drawingml/2006/main" noGrp="1"/>
          </p:cNvSpPr>
          <p:nvPr/>
        </p:nvSpPr>
        <p:spPr>
          <a:xfrm xmlns:a="http://schemas.openxmlformats.org/drawingml/2006/main">
            <a:off x="8096250" y="54578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ITviec / TopCV / TopDev</a:t>
            </a:r>
          </a:p>
        </p:txBody>
      </p:sp>
      <p:sp>
        <p:nvSpPr>
          <p:cNvPr id="15" name="rule">
            <a:extLst xmlns:a="http://schemas.openxmlformats.org/drawingml/2006/main">
              <a:ext uri="{FF2B5EF4-FFF2-40B4-BE49-F238E27FC236}">
                <a16:creationId xmlns:a16="http://schemas.microsoft.com/office/drawing/2014/main" id="{DE50A9A1-B910-4248-B710-62193F247D53}"/>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6" name="source">
            <a:extLst xmlns:a="http://schemas.openxmlformats.org/drawingml/2006/main">
              <a:ext uri="{FF2B5EF4-FFF2-40B4-BE49-F238E27FC236}">
                <a16:creationId xmlns:a16="http://schemas.microsoft.com/office/drawing/2014/main" id="{46CE05C0-42A9-468B-8AA1-2C047E8328CE}"/>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data/analysis/jobs_analysis_clean.csv • Snapshot 30/06–02/07/2026</a:t>
            </a:r>
          </a:p>
        </p:txBody>
      </p:sp>
      <p:sp>
        <p:nvSpPr>
          <p:cNvPr id="17" name="slide-number">
            <a:extLst xmlns:a="http://schemas.openxmlformats.org/drawingml/2006/main">
              <a:ext uri="{FF2B5EF4-FFF2-40B4-BE49-F238E27FC236}">
                <a16:creationId xmlns:a16="http://schemas.microsoft.com/office/drawing/2014/main" id="{4B0B584C-0528-4DAC-9448-D61744C8742B}"/>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04</a:t>
            </a:r>
          </a:p>
        </p:txBody>
      </p:sp>
    </p:spTree>
    <p:extLst>
      <p:ext uri="{BB962C8B-B14F-4D97-AF65-F5344CB8AC3E}">
        <p14:creationId xmlns:p14="http://schemas.microsoft.com/office/powerpoint/2010/main" val="3753064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B2D1055-787B-449A-9EA7-345775294C12}"/>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04 — TÍN HIỆU TUYỂN DỤNG</a:t>
            </a:r>
          </a:p>
        </p:txBody>
      </p:sp>
      <p:sp>
        <p:nvSpPr>
          <p:cNvPr id="2" name="title">
            <a:extLst xmlns:a="http://schemas.openxmlformats.org/drawingml/2006/main">
              <a:ext uri="{FF2B5EF4-FFF2-40B4-BE49-F238E27FC236}">
                <a16:creationId xmlns:a16="http://schemas.microsoft.com/office/drawing/2014/main" id="{E824FBD7-FB2D-4A99-91D8-5DC0389E72BB}"/>
              </a:ext>
            </a:extLst>
          </p:cNvPr>
          <p:cNvSpPr>
            <a:spLocks xmlns:a="http://schemas.openxmlformats.org/drawingml/2006/main" noGrp="1"/>
          </p:cNvSpPr>
          <p:nvPr/>
        </p:nvSpPr>
        <p:spPr>
          <a:xfrm xmlns:a="http://schemas.openxmlformats.org/drawingml/2006/main">
            <a:off x="4000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111111"/>
                </a:solidFill>
              </a:defRPr>
            </a:pPr>
            <a:r>
              <a:rPr sz="3150" b="1">
                <a:solidFill>
                  <a:srgbClr val="111111"/>
                </a:solidFill>
              </a:rPr>
              <a:t>Kỹ năng được nhắc nhiều nhất trong mẫu</a:t>
            </a:r>
          </a:p>
        </p:txBody>
      </p:sp>
      <p:sp>
        <p:nvSpPr>
          <p:cNvPr id="3" name="subtitle">
            <a:extLst xmlns:a="http://schemas.openxmlformats.org/drawingml/2006/main">
              <a:ext uri="{FF2B5EF4-FFF2-40B4-BE49-F238E27FC236}">
                <a16:creationId xmlns:a16="http://schemas.microsoft.com/office/drawing/2014/main" id="{AC290D38-CE69-404C-9CE8-51B732801482}"/>
              </a:ext>
            </a:extLst>
          </p:cNvPr>
          <p:cNvSpPr>
            <a:spLocks xmlns:a="http://schemas.openxmlformats.org/drawingml/2006/main" noGrp="1"/>
          </p:cNvSpPr>
          <p:nvPr/>
        </p:nvSpPr>
        <p:spPr>
          <a:xfrm xmlns:a="http://schemas.openxmlformats.org/drawingml/2006/main">
            <a:off x="400050" y="1466850"/>
            <a:ext cx="8572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5959"/>
                </a:solidFill>
              </a:defRPr>
            </a:pPr>
            <a:r>
              <a:rPr sz="1500">
                <a:solidFill>
                  <a:srgbClr val="595959"/>
                </a:solidFill>
              </a:rPr>
              <a:t>Mỗi tin có thể đề cập nhiều kỹ năng; thanh biểu diễn số URL chứa kỹ năng đã chuẩn hóa.</a:t>
            </a:r>
          </a:p>
        </p:txBody>
      </p:sp>
      <p:graphicFrame>
        <p:nvGraphicFramePr>
          <p:cNvPr id="16" name="Chart"/>
          <p:cNvGraphicFramePr/>
          <p:nvPr/>
        </p:nvGraphicFramePr>
        <p:xfrm>
          <a:off xmlns:a="http://schemas.openxmlformats.org/drawingml/2006/main" x="552450"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9ce29a01ce3f4e3e"/>
          </a:graphicData>
        </a:graphic>
      </p:graphicFrame>
      <p:sp>
        <p:nvSpPr>
          <p:cNvPr id="5" name="skills-note">
            <a:extLst xmlns:a="http://schemas.openxmlformats.org/drawingml/2006/main">
              <a:ext uri="{FF2B5EF4-FFF2-40B4-BE49-F238E27FC236}">
                <a16:creationId xmlns:a16="http://schemas.microsoft.com/office/drawing/2014/main" id="{F36569FA-7523-4967-A8A4-B07DD23748A2}"/>
              </a:ext>
            </a:extLst>
          </p:cNvPr>
          <p:cNvSpPr>
            <a:spLocks xmlns:a="http://schemas.openxmlformats.org/drawingml/2006/main" noGrp="1"/>
          </p:cNvSpPr>
          <p:nvPr/>
        </p:nvSpPr>
        <p:spPr>
          <a:xfrm xmlns:a="http://schemas.openxmlformats.org/drawingml/2006/main">
            <a:off x="7810500" y="2257425"/>
            <a:ext cx="3562350" cy="3067050"/>
          </a:xfrm>
          <a:prstGeom xmlns:a="http://schemas.openxmlformats.org/drawingml/2006/main" prst="roundRect">
            <a:avLst>
              <a:gd name="adj" fmla="val 2484"/>
            </a:avLst>
          </a:prstGeom>
          <a:solidFill xmlns:a="http://schemas.openxmlformats.org/drawingml/2006/main">
            <a:srgbClr val="F7F7F7"/>
          </a:solidFill>
          <a:ln xmlns:a="http://schemas.openxmlformats.org/drawingml/2006/main" w="9525">
            <a:solidFill>
              <a:srgbClr val="D7D9DD"/>
            </a:solidFill>
            <a:prstDash val="solid"/>
          </a:ln>
        </p:spPr>
      </p:sp>
      <p:sp>
        <p:nvSpPr>
          <p:cNvPr id="6" name="skills-note-title">
            <a:extLst xmlns:a="http://schemas.openxmlformats.org/drawingml/2006/main">
              <a:ext uri="{FF2B5EF4-FFF2-40B4-BE49-F238E27FC236}">
                <a16:creationId xmlns:a16="http://schemas.microsoft.com/office/drawing/2014/main" id="{D1F38947-4EF8-468D-9128-2C8F1CDB8A6B}"/>
              </a:ext>
            </a:extLst>
          </p:cNvPr>
          <p:cNvSpPr>
            <a:spLocks xmlns:a="http://schemas.openxmlformats.org/drawingml/2006/main" noGrp="1"/>
          </p:cNvSpPr>
          <p:nvPr/>
        </p:nvSpPr>
        <p:spPr>
          <a:xfrm xmlns:a="http://schemas.openxmlformats.org/drawingml/2006/main">
            <a:off x="8096250" y="25717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875" b="1">
                <a:solidFill>
                  <a:srgbClr val="111111"/>
                </a:solidFill>
              </a:defRPr>
            </a:pPr>
            <a:r>
              <a:rPr sz="1875" b="1">
                <a:solidFill>
                  <a:srgbClr val="111111"/>
                </a:solidFill>
              </a:rPr>
              <a:t>Đọc đúng biểu đồ</a:t>
            </a:r>
          </a:p>
        </p:txBody>
      </p:sp>
      <p:sp>
        <p:nvSpPr>
          <p:cNvPr id="7" name="skills-note-body">
            <a:extLst xmlns:a="http://schemas.openxmlformats.org/drawingml/2006/main">
              <a:ext uri="{FF2B5EF4-FFF2-40B4-BE49-F238E27FC236}">
                <a16:creationId xmlns:a16="http://schemas.microsoft.com/office/drawing/2014/main" id="{3BDE3333-775D-4659-9B1D-B3B1FF347C1C}"/>
              </a:ext>
            </a:extLst>
          </p:cNvPr>
          <p:cNvSpPr>
            <a:spLocks xmlns:a="http://schemas.openxmlformats.org/drawingml/2006/main" noGrp="1"/>
          </p:cNvSpPr>
          <p:nvPr/>
        </p:nvSpPr>
        <p:spPr>
          <a:xfrm xmlns:a="http://schemas.openxmlformats.org/drawingml/2006/main">
            <a:off x="8096250" y="3124200"/>
            <a:ext cx="29051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a:solidFill>
                  <a:srgbClr val="595959"/>
                </a:solidFill>
              </a:defRPr>
            </a:pPr>
            <a:r>
              <a:rPr sz="1350">
                <a:solidFill>
                  <a:srgbClr val="595959"/>
                </a:solidFill>
              </a:rPr>
              <a:t>• SQL, Python và Java là các từ khóa kỹ năng nổi bật.</a:t>
            </a:r>
          </a:p>
          <a:p xmlns:a="http://schemas.openxmlformats.org/drawingml/2006/main">
            <a:r>
              <a:t/>
            </a:r>
          </a:p>
          <a:p xmlns:a="http://schemas.openxmlformats.org/drawingml/2006/main">
            <a:pPr>
              <a:buNone/>
              <a:defRPr sz="1350">
                <a:solidFill>
                  <a:srgbClr val="595959"/>
                </a:solidFill>
              </a:defRPr>
            </a:pPr>
            <a:r>
              <a:rPr sz="1350">
                <a:solidFill>
                  <a:srgbClr val="595959"/>
                </a:solidFill>
              </a:rPr>
              <a:t>• AWS và Docker cho thấy cloud/container xuất hiện rộng trong mẫu.</a:t>
            </a:r>
          </a:p>
          <a:p xmlns:a="http://schemas.openxmlformats.org/drawingml/2006/main">
            <a:r>
              <a:t/>
            </a:r>
          </a:p>
          <a:p xmlns:a="http://schemas.openxmlformats.org/drawingml/2006/main">
            <a:pPr>
              <a:buNone/>
              <a:defRPr sz="1350">
                <a:solidFill>
                  <a:srgbClr val="595959"/>
                </a:solidFill>
              </a:defRPr>
            </a:pPr>
            <a:r>
              <a:rPr sz="1350">
                <a:solidFill>
                  <a:srgbClr val="595959"/>
                </a:solidFill>
              </a:rPr>
              <a:t>• Đây là tín hiệu từ job descriptions, không phải “top nghề” hay thị phần.</a:t>
            </a:r>
          </a:p>
        </p:txBody>
      </p:sp>
      <p:sp>
        <p:nvSpPr>
          <p:cNvPr id="8" name="skills-caution">
            <a:extLst xmlns:a="http://schemas.openxmlformats.org/drawingml/2006/main">
              <a:ext uri="{FF2B5EF4-FFF2-40B4-BE49-F238E27FC236}">
                <a16:creationId xmlns:a16="http://schemas.microsoft.com/office/drawing/2014/main" id="{45743014-2D29-4FAA-A655-AD410CEDAF84}"/>
              </a:ext>
            </a:extLst>
          </p:cNvPr>
          <p:cNvSpPr>
            <a:spLocks xmlns:a="http://schemas.openxmlformats.org/drawingml/2006/main" noGrp="1"/>
          </p:cNvSpPr>
          <p:nvPr/>
        </p:nvSpPr>
        <p:spPr>
          <a:xfrm xmlns:a="http://schemas.openxmlformats.org/drawingml/2006/main">
            <a:off x="552450" y="57721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FF6B35"/>
                </a:solidFill>
              </a:defRPr>
            </a:pPr>
            <a:r>
              <a:rPr sz="1350" b="1">
                <a:solidFill>
                  <a:srgbClr val="FF6B35"/>
                </a:solidFill>
              </a:rPr>
              <a:t>Không dùng các kỹ năng này để khẳng định xu hướng tăng/giảm vì chưa có chuỗi dữ liệu theo kỳ.</a:t>
            </a:r>
          </a:p>
        </p:txBody>
      </p:sp>
      <p:sp>
        <p:nvSpPr>
          <p:cNvPr id="9" name="rule">
            <a:extLst xmlns:a="http://schemas.openxmlformats.org/drawingml/2006/main">
              <a:ext uri="{FF2B5EF4-FFF2-40B4-BE49-F238E27FC236}">
                <a16:creationId xmlns:a16="http://schemas.microsoft.com/office/drawing/2014/main" id="{53F198CA-0867-40D3-BA7B-81B37C0C52E9}"/>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0" name="source">
            <a:extLst xmlns:a="http://schemas.openxmlformats.org/drawingml/2006/main">
              <a:ext uri="{FF2B5EF4-FFF2-40B4-BE49-F238E27FC236}">
                <a16:creationId xmlns:a16="http://schemas.microsoft.com/office/drawing/2014/main" id="{06320005-5A40-4173-9849-5AC4DDB68937}"/>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data/analysis/job_skills.csv • 1.433 URL duy nhất</a:t>
            </a:r>
          </a:p>
        </p:txBody>
      </p:sp>
      <p:sp>
        <p:nvSpPr>
          <p:cNvPr id="11" name="slide-number">
            <a:extLst xmlns:a="http://schemas.openxmlformats.org/drawingml/2006/main">
              <a:ext uri="{FF2B5EF4-FFF2-40B4-BE49-F238E27FC236}">
                <a16:creationId xmlns:a16="http://schemas.microsoft.com/office/drawing/2014/main" id="{2002FADE-DE73-4B2E-BA02-968AB3F48EB9}"/>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05</a:t>
            </a:r>
          </a:p>
        </p:txBody>
      </p:sp>
    </p:spTree>
    <p:extLst>
      <p:ext uri="{BB962C8B-B14F-4D97-AF65-F5344CB8AC3E}">
        <p14:creationId xmlns:p14="http://schemas.microsoft.com/office/powerpoint/2010/main" val="19067246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BE23C49-6A25-4CCC-A85B-1CF6D1A5EEA9}"/>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05 — MỨC LƯƠNG</a:t>
            </a:r>
          </a:p>
        </p:txBody>
      </p:sp>
      <p:sp>
        <p:nvSpPr>
          <p:cNvPr id="2" name="title">
            <a:extLst xmlns:a="http://schemas.openxmlformats.org/drawingml/2006/main">
              <a:ext uri="{FF2B5EF4-FFF2-40B4-BE49-F238E27FC236}">
                <a16:creationId xmlns:a16="http://schemas.microsoft.com/office/drawing/2014/main" id="{6EB143DE-215D-4E1F-A095-2BF198E16790}"/>
              </a:ext>
            </a:extLst>
          </p:cNvPr>
          <p:cNvSpPr>
            <a:spLocks xmlns:a="http://schemas.openxmlformats.org/drawingml/2006/main" noGrp="1"/>
          </p:cNvSpPr>
          <p:nvPr/>
        </p:nvSpPr>
        <p:spPr>
          <a:xfrm xmlns:a="http://schemas.openxmlformats.org/drawingml/2006/main">
            <a:off x="4000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075" b="1">
                <a:solidFill>
                  <a:srgbClr val="111111"/>
                </a:solidFill>
              </a:defRPr>
            </a:pPr>
            <a:r>
              <a:rPr sz="3075" b="1">
                <a:solidFill>
                  <a:srgbClr val="111111"/>
                </a:solidFill>
              </a:rPr>
              <a:t>Lương quan sát được: có tín hiệu, nhưng có thiên lệch</a:t>
            </a:r>
          </a:p>
        </p:txBody>
      </p:sp>
      <p:sp>
        <p:nvSpPr>
          <p:cNvPr id="3" name="subtitle">
            <a:extLst xmlns:a="http://schemas.openxmlformats.org/drawingml/2006/main">
              <a:ext uri="{FF2B5EF4-FFF2-40B4-BE49-F238E27FC236}">
                <a16:creationId xmlns:a16="http://schemas.microsoft.com/office/drawing/2014/main" id="{F0101931-359F-40A6-92B2-F7FDDA7FF454}"/>
              </a:ext>
            </a:extLst>
          </p:cNvPr>
          <p:cNvSpPr>
            <a:spLocks xmlns:a="http://schemas.openxmlformats.org/drawingml/2006/main" noGrp="1"/>
          </p:cNvSpPr>
          <p:nvPr/>
        </p:nvSpPr>
        <p:spPr>
          <a:xfrm xmlns:a="http://schemas.openxmlformats.org/drawingml/2006/main">
            <a:off x="400050" y="1466850"/>
            <a:ext cx="9810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5959"/>
                </a:solidFill>
              </a:defRPr>
            </a:pPr>
            <a:r>
              <a:rPr sz="1500">
                <a:solidFill>
                  <a:srgbClr val="595959"/>
                </a:solidFill>
              </a:rPr>
              <a:t>Median theo seniority của 504 tin có lương số; đơn vị triệu VND/tháng sau chuẩn hóa baseline.</a:t>
            </a:r>
          </a:p>
        </p:txBody>
      </p:sp>
      <p:sp>
        <p:nvSpPr>
          <p:cNvPr id="4" name="csv-label">
            <a:extLst xmlns:a="http://schemas.openxmlformats.org/drawingml/2006/main">
              <a:ext uri="{FF2B5EF4-FFF2-40B4-BE49-F238E27FC236}">
                <a16:creationId xmlns:a16="http://schemas.microsoft.com/office/drawing/2014/main" id="{6A110FA1-0982-47F1-A6AD-6000E51C89EC}"/>
              </a:ext>
            </a:extLst>
          </p:cNvPr>
          <p:cNvSpPr>
            <a:spLocks xmlns:a="http://schemas.openxmlformats.org/drawingml/2006/main" noGrp="1"/>
          </p:cNvSpPr>
          <p:nvPr/>
        </p:nvSpPr>
        <p:spPr>
          <a:xfrm xmlns:a="http://schemas.openxmlformats.org/drawingml/2006/main">
            <a:off x="400050" y="1962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75" b="1">
                <a:solidFill>
                  <a:srgbClr val="FF6B35"/>
                </a:solidFill>
              </a:defRPr>
            </a:pPr>
            <a:r>
              <a:rPr sz="975" b="1">
                <a:solidFill>
                  <a:srgbClr val="FF6B35"/>
                </a:solidFill>
              </a:rPr>
              <a:t>ẢNH PREVIEW TỪ salary_analysis_clean.csv</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9bcb7ba3d1b4ec1"/>
          <a:stretch xmlns:a="http://schemas.openxmlformats.org/drawingml/2006/main"/>
        </p:blipFill>
        <p:spPr>
          <a:xfrm xmlns:a="http://schemas.openxmlformats.org/drawingml/2006/main">
            <a:off x="475957" y="2171700"/>
            <a:ext cx="10859086" cy="2247900"/>
          </a:xfrm>
          <a:prstGeom xmlns:a="http://schemas.openxmlformats.org/drawingml/2006/main" prst="rect">
            <a:avLst/>
          </a:prstGeom>
        </p:spPr>
      </p:pic>
      <p:sp>
        <p:nvSpPr>
          <p:cNvPr id="6" name="small-metric-panel">
            <a:extLst xmlns:a="http://schemas.openxmlformats.org/drawingml/2006/main">
              <a:ext uri="{FF2B5EF4-FFF2-40B4-BE49-F238E27FC236}">
                <a16:creationId xmlns:a16="http://schemas.microsoft.com/office/drawing/2014/main" id="{36ED4650-0D74-44EA-B40C-1BA00A637AA7}"/>
              </a:ext>
            </a:extLst>
          </p:cNvPr>
          <p:cNvSpPr>
            <a:spLocks xmlns:a="http://schemas.openxmlformats.org/drawingml/2006/main" noGrp="1"/>
          </p:cNvSpPr>
          <p:nvPr/>
        </p:nvSpPr>
        <p:spPr>
          <a:xfrm xmlns:a="http://schemas.openxmlformats.org/drawingml/2006/main">
            <a:off x="400050" y="4714875"/>
            <a:ext cx="3333750" cy="1276350"/>
          </a:xfrm>
          <a:prstGeom xmlns:a="http://schemas.openxmlformats.org/drawingml/2006/main" prst="roundRect">
            <a:avLst>
              <a:gd name="adj" fmla="val 5970"/>
            </a:avLst>
          </a:prstGeom>
          <a:solidFill xmlns:a="http://schemas.openxmlformats.org/drawingml/2006/main">
            <a:srgbClr val="FFF0E9"/>
          </a:solidFill>
          <a:ln xmlns:a="http://schemas.openxmlformats.org/drawingml/2006/main" w="0">
            <a:noFill/>
            <a:prstDash val="solid"/>
          </a:ln>
        </p:spPr>
      </p:sp>
      <p:sp>
        <p:nvSpPr>
          <p:cNvPr id="7" name="small-metric-value">
            <a:extLst xmlns:a="http://schemas.openxmlformats.org/drawingml/2006/main">
              <a:ext uri="{FF2B5EF4-FFF2-40B4-BE49-F238E27FC236}">
                <a16:creationId xmlns:a16="http://schemas.microsoft.com/office/drawing/2014/main" id="{A25DA9B9-ECF1-4D6F-A564-151238CCD1C5}"/>
              </a:ext>
            </a:extLst>
          </p:cNvPr>
          <p:cNvSpPr>
            <a:spLocks xmlns:a="http://schemas.openxmlformats.org/drawingml/2006/main" noGrp="1"/>
          </p:cNvSpPr>
          <p:nvPr/>
        </p:nvSpPr>
        <p:spPr>
          <a:xfrm xmlns:a="http://schemas.openxmlformats.org/drawingml/2006/main">
            <a:off x="59055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FF6B35"/>
                </a:solidFill>
              </a:defRPr>
            </a:pPr>
            <a:r>
              <a:rPr sz="2775" b="1">
                <a:solidFill>
                  <a:srgbClr val="FF6B35"/>
                </a:solidFill>
              </a:rPr>
              <a:t>25M</a:t>
            </a:r>
          </a:p>
        </p:txBody>
      </p:sp>
      <p:sp>
        <p:nvSpPr>
          <p:cNvPr id="8" name="small-metric-label">
            <a:extLst xmlns:a="http://schemas.openxmlformats.org/drawingml/2006/main">
              <a:ext uri="{FF2B5EF4-FFF2-40B4-BE49-F238E27FC236}">
                <a16:creationId xmlns:a16="http://schemas.microsoft.com/office/drawing/2014/main" id="{F2F07C6F-5BA6-4D86-8138-230483121EC8}"/>
              </a:ext>
            </a:extLst>
          </p:cNvPr>
          <p:cNvSpPr>
            <a:spLocks xmlns:a="http://schemas.openxmlformats.org/drawingml/2006/main" noGrp="1"/>
          </p:cNvSpPr>
          <p:nvPr/>
        </p:nvSpPr>
        <p:spPr>
          <a:xfrm xmlns:a="http://schemas.openxmlformats.org/drawingml/2006/main">
            <a:off x="59055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Median toàn bộ mẫu lương số</a:t>
            </a:r>
          </a:p>
        </p:txBody>
      </p:sp>
      <p:sp>
        <p:nvSpPr>
          <p:cNvPr id="9" name="small-metric-panel">
            <a:extLst xmlns:a="http://schemas.openxmlformats.org/drawingml/2006/main">
              <a:ext uri="{FF2B5EF4-FFF2-40B4-BE49-F238E27FC236}">
                <a16:creationId xmlns:a16="http://schemas.microsoft.com/office/drawing/2014/main" id="{6C75681F-0088-4D29-BF89-0E8D0AF4F107}"/>
              </a:ext>
            </a:extLst>
          </p:cNvPr>
          <p:cNvSpPr>
            <a:spLocks xmlns:a="http://schemas.openxmlformats.org/drawingml/2006/main" noGrp="1"/>
          </p:cNvSpPr>
          <p:nvPr/>
        </p:nvSpPr>
        <p:spPr>
          <a:xfrm xmlns:a="http://schemas.openxmlformats.org/drawingml/2006/main">
            <a:off x="4152900" y="4714875"/>
            <a:ext cx="333375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0" name="small-metric-value">
            <a:extLst xmlns:a="http://schemas.openxmlformats.org/drawingml/2006/main">
              <a:ext uri="{FF2B5EF4-FFF2-40B4-BE49-F238E27FC236}">
                <a16:creationId xmlns:a16="http://schemas.microsoft.com/office/drawing/2014/main" id="{1B6F88A2-3856-4367-9C72-A23EBC45CC6A}"/>
              </a:ext>
            </a:extLst>
          </p:cNvPr>
          <p:cNvSpPr>
            <a:spLocks xmlns:a="http://schemas.openxmlformats.org/drawingml/2006/main" noGrp="1"/>
          </p:cNvSpPr>
          <p:nvPr/>
        </p:nvSpPr>
        <p:spPr>
          <a:xfrm xmlns:a="http://schemas.openxmlformats.org/drawingml/2006/main">
            <a:off x="434340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111111"/>
                </a:solidFill>
              </a:defRPr>
            </a:pPr>
            <a:r>
              <a:rPr sz="2775" b="1">
                <a:solidFill>
                  <a:srgbClr val="111111"/>
                </a:solidFill>
              </a:rPr>
              <a:t>7 → 42,9M</a:t>
            </a:r>
          </a:p>
        </p:txBody>
      </p:sp>
      <p:sp>
        <p:nvSpPr>
          <p:cNvPr id="11" name="small-metric-label">
            <a:extLst xmlns:a="http://schemas.openxmlformats.org/drawingml/2006/main">
              <a:ext uri="{FF2B5EF4-FFF2-40B4-BE49-F238E27FC236}">
                <a16:creationId xmlns:a16="http://schemas.microsoft.com/office/drawing/2014/main" id="{C39706D1-9B1F-4F48-9439-5F4F3D057D83}"/>
              </a:ext>
            </a:extLst>
          </p:cNvPr>
          <p:cNvSpPr>
            <a:spLocks xmlns:a="http://schemas.openxmlformats.org/drawingml/2006/main" noGrp="1"/>
          </p:cNvSpPr>
          <p:nvPr/>
        </p:nvSpPr>
        <p:spPr>
          <a:xfrm xmlns:a="http://schemas.openxmlformats.org/drawingml/2006/main">
            <a:off x="434340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Intern → Senior median</a:t>
            </a:r>
          </a:p>
        </p:txBody>
      </p:sp>
      <p:sp>
        <p:nvSpPr>
          <p:cNvPr id="12" name="small-metric-panel">
            <a:extLst xmlns:a="http://schemas.openxmlformats.org/drawingml/2006/main">
              <a:ext uri="{FF2B5EF4-FFF2-40B4-BE49-F238E27FC236}">
                <a16:creationId xmlns:a16="http://schemas.microsoft.com/office/drawing/2014/main" id="{11A3BB4F-09BD-4AF5-8DBA-6C435C45CCB4}"/>
              </a:ext>
            </a:extLst>
          </p:cNvPr>
          <p:cNvSpPr>
            <a:spLocks xmlns:a="http://schemas.openxmlformats.org/drawingml/2006/main" noGrp="1"/>
          </p:cNvSpPr>
          <p:nvPr/>
        </p:nvSpPr>
        <p:spPr>
          <a:xfrm xmlns:a="http://schemas.openxmlformats.org/drawingml/2006/main">
            <a:off x="7905750" y="4714875"/>
            <a:ext cx="350520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3" name="small-metric-value">
            <a:extLst xmlns:a="http://schemas.openxmlformats.org/drawingml/2006/main">
              <a:ext uri="{FF2B5EF4-FFF2-40B4-BE49-F238E27FC236}">
                <a16:creationId xmlns:a16="http://schemas.microsoft.com/office/drawing/2014/main" id="{19A51107-8518-4BA3-9D01-355A3ACF93C6}"/>
              </a:ext>
            </a:extLst>
          </p:cNvPr>
          <p:cNvSpPr>
            <a:spLocks xmlns:a="http://schemas.openxmlformats.org/drawingml/2006/main" noGrp="1"/>
          </p:cNvSpPr>
          <p:nvPr/>
        </p:nvSpPr>
        <p:spPr>
          <a:xfrm xmlns:a="http://schemas.openxmlformats.org/drawingml/2006/main">
            <a:off x="8096250" y="4886325"/>
            <a:ext cx="312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75" b="1">
                <a:solidFill>
                  <a:srgbClr val="111111"/>
                </a:solidFill>
              </a:defRPr>
            </a:pPr>
            <a:r>
              <a:rPr sz="2775" b="1">
                <a:solidFill>
                  <a:srgbClr val="111111"/>
                </a:solidFill>
              </a:rPr>
              <a:t>101</a:t>
            </a:r>
          </a:p>
        </p:txBody>
      </p:sp>
      <p:sp>
        <p:nvSpPr>
          <p:cNvPr id="14" name="small-metric-label">
            <a:extLst xmlns:a="http://schemas.openxmlformats.org/drawingml/2006/main">
              <a:ext uri="{FF2B5EF4-FFF2-40B4-BE49-F238E27FC236}">
                <a16:creationId xmlns:a16="http://schemas.microsoft.com/office/drawing/2014/main" id="{43085C28-B590-4715-AD84-4D422E6D78C8}"/>
              </a:ext>
            </a:extLst>
          </p:cNvPr>
          <p:cNvSpPr>
            <a:spLocks xmlns:a="http://schemas.openxmlformats.org/drawingml/2006/main" noGrp="1"/>
          </p:cNvSpPr>
          <p:nvPr/>
        </p:nvSpPr>
        <p:spPr>
          <a:xfrm xmlns:a="http://schemas.openxmlformats.org/drawingml/2006/main">
            <a:off x="8096250" y="54578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5959"/>
                </a:solidFill>
              </a:defRPr>
            </a:pPr>
            <a:r>
              <a:rPr sz="1200">
                <a:solidFill>
                  <a:srgbClr val="595959"/>
                </a:solidFill>
              </a:rPr>
              <a:t>Record salary_period cần sửa tạm</a:t>
            </a:r>
          </a:p>
        </p:txBody>
      </p:sp>
      <p:sp>
        <p:nvSpPr>
          <p:cNvPr id="15" name="rule">
            <a:extLst xmlns:a="http://schemas.openxmlformats.org/drawingml/2006/main">
              <a:ext uri="{FF2B5EF4-FFF2-40B4-BE49-F238E27FC236}">
                <a16:creationId xmlns:a16="http://schemas.microsoft.com/office/drawing/2014/main" id="{DBA8A422-3716-4790-B796-F2FD67F00968}"/>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6" name="source">
            <a:extLst xmlns:a="http://schemas.openxmlformats.org/drawingml/2006/main">
              <a:ext uri="{FF2B5EF4-FFF2-40B4-BE49-F238E27FC236}">
                <a16:creationId xmlns:a16="http://schemas.microsoft.com/office/drawing/2014/main" id="{29114F06-09D4-4EFE-8053-4D9E3D7B3D2B}"/>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data/analysis/salary_analysis_clean.csv • Quy đổi baseline 26.000 VND/USD</a:t>
            </a:r>
          </a:p>
        </p:txBody>
      </p:sp>
      <p:sp>
        <p:nvSpPr>
          <p:cNvPr id="17" name="slide-number">
            <a:extLst xmlns:a="http://schemas.openxmlformats.org/drawingml/2006/main">
              <a:ext uri="{FF2B5EF4-FFF2-40B4-BE49-F238E27FC236}">
                <a16:creationId xmlns:a16="http://schemas.microsoft.com/office/drawing/2014/main" id="{72293CD9-0E2E-42C8-90FC-FF48EA7C48D6}"/>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06</a:t>
            </a:r>
          </a:p>
        </p:txBody>
      </p:sp>
    </p:spTree>
    <p:extLst>
      <p:ext uri="{BB962C8B-B14F-4D97-AF65-F5344CB8AC3E}">
        <p14:creationId xmlns:p14="http://schemas.microsoft.com/office/powerpoint/2010/main" val="18314245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31C78B9-77D0-4B42-912E-7AB29CE11FA5}"/>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06 — BASELINE DỰ BÁO LƯƠNG</a:t>
            </a:r>
          </a:p>
        </p:txBody>
      </p:sp>
      <p:sp>
        <p:nvSpPr>
          <p:cNvPr id="2" name="title">
            <a:extLst xmlns:a="http://schemas.openxmlformats.org/drawingml/2006/main">
              <a:ext uri="{FF2B5EF4-FFF2-40B4-BE49-F238E27FC236}">
                <a16:creationId xmlns:a16="http://schemas.microsoft.com/office/drawing/2014/main" id="{D747B242-55DF-448A-8254-D80AE804A59C}"/>
              </a:ext>
            </a:extLst>
          </p:cNvPr>
          <p:cNvSpPr>
            <a:spLocks xmlns:a="http://schemas.openxmlformats.org/drawingml/2006/main" noGrp="1"/>
          </p:cNvSpPr>
          <p:nvPr/>
        </p:nvSpPr>
        <p:spPr>
          <a:xfrm xmlns:a="http://schemas.openxmlformats.org/drawingml/2006/main">
            <a:off x="400050" y="7810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111111"/>
                </a:solidFill>
              </a:defRPr>
            </a:pPr>
            <a:r>
              <a:rPr sz="3150" b="1">
                <a:solidFill>
                  <a:srgbClr val="111111"/>
                </a:solidFill>
              </a:rPr>
              <a:t>Linear Regression: hữu ích để học, chưa đủ để tin</a:t>
            </a:r>
          </a:p>
        </p:txBody>
      </p:sp>
      <p:sp>
        <p:nvSpPr>
          <p:cNvPr id="3" name="subtitle">
            <a:extLst xmlns:a="http://schemas.openxmlformats.org/drawingml/2006/main">
              <a:ext uri="{FF2B5EF4-FFF2-40B4-BE49-F238E27FC236}">
                <a16:creationId xmlns:a16="http://schemas.microsoft.com/office/drawing/2014/main" id="{373B9BC2-1EC7-4389-A374-520B5C9F963D}"/>
              </a:ext>
            </a:extLst>
          </p:cNvPr>
          <p:cNvSpPr>
            <a:spLocks xmlns:a="http://schemas.openxmlformats.org/drawingml/2006/main" noGrp="1"/>
          </p:cNvSpPr>
          <p:nvPr/>
        </p:nvSpPr>
        <p:spPr>
          <a:xfrm xmlns:a="http://schemas.openxmlformats.org/drawingml/2006/main">
            <a:off x="400050" y="14668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5959"/>
                </a:solidFill>
              </a:defRPr>
            </a:pPr>
            <a:r>
              <a:rPr sz="1500">
                <a:solidFill>
                  <a:srgbClr val="595959"/>
                </a:solidFill>
              </a:rPr>
              <a:t>Baseline dự đoán log lương tháng từ nguồn, địa điểm, seniority, kinh nghiệm, tuổi tin và 30 skill flags.</a:t>
            </a:r>
          </a:p>
        </p:txBody>
      </p:sp>
      <p:sp>
        <p:nvSpPr>
          <p:cNvPr id="4" name="metric-panel">
            <a:extLst xmlns:a="http://schemas.openxmlformats.org/drawingml/2006/main">
              <a:ext uri="{FF2B5EF4-FFF2-40B4-BE49-F238E27FC236}">
                <a16:creationId xmlns:a16="http://schemas.microsoft.com/office/drawing/2014/main" id="{1C0B3C0D-3658-4AE8-B9CD-F84F55AE456F}"/>
              </a:ext>
            </a:extLst>
          </p:cNvPr>
          <p:cNvSpPr>
            <a:spLocks xmlns:a="http://schemas.openxmlformats.org/drawingml/2006/main" noGrp="1"/>
          </p:cNvSpPr>
          <p:nvPr/>
        </p:nvSpPr>
        <p:spPr>
          <a:xfrm xmlns:a="http://schemas.openxmlformats.org/drawingml/2006/main">
            <a:off x="4000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5" name="metric-value">
            <a:extLst xmlns:a="http://schemas.openxmlformats.org/drawingml/2006/main">
              <a:ext uri="{FF2B5EF4-FFF2-40B4-BE49-F238E27FC236}">
                <a16:creationId xmlns:a16="http://schemas.microsoft.com/office/drawing/2014/main" id="{3023F351-F10A-4089-8A80-324DF1D661AF}"/>
              </a:ext>
            </a:extLst>
          </p:cNvPr>
          <p:cNvSpPr>
            <a:spLocks xmlns:a="http://schemas.openxmlformats.org/drawingml/2006/main" noGrp="1"/>
          </p:cNvSpPr>
          <p:nvPr/>
        </p:nvSpPr>
        <p:spPr>
          <a:xfrm xmlns:a="http://schemas.openxmlformats.org/drawingml/2006/main">
            <a:off x="6096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403 / 101</a:t>
            </a:r>
          </a:p>
        </p:txBody>
      </p:sp>
      <p:sp>
        <p:nvSpPr>
          <p:cNvPr id="6" name="metric-label">
            <a:extLst xmlns:a="http://schemas.openxmlformats.org/drawingml/2006/main">
              <a:ext uri="{FF2B5EF4-FFF2-40B4-BE49-F238E27FC236}">
                <a16:creationId xmlns:a16="http://schemas.microsoft.com/office/drawing/2014/main" id="{BAA3FB3C-7AC0-4516-97F9-EDEADDEC34F6}"/>
              </a:ext>
            </a:extLst>
          </p:cNvPr>
          <p:cNvSpPr>
            <a:spLocks xmlns:a="http://schemas.openxmlformats.org/drawingml/2006/main" noGrp="1"/>
          </p:cNvSpPr>
          <p:nvPr/>
        </p:nvSpPr>
        <p:spPr>
          <a:xfrm xmlns:a="http://schemas.openxmlformats.org/drawingml/2006/main">
            <a:off x="6096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Train / held-out test rows</a:t>
            </a:r>
          </a:p>
        </p:txBody>
      </p:sp>
      <p:sp>
        <p:nvSpPr>
          <p:cNvPr id="7" name="metric-panel">
            <a:extLst xmlns:a="http://schemas.openxmlformats.org/drawingml/2006/main">
              <a:ext uri="{FF2B5EF4-FFF2-40B4-BE49-F238E27FC236}">
                <a16:creationId xmlns:a16="http://schemas.microsoft.com/office/drawing/2014/main" id="{983BFC5F-7C4A-4580-AD71-85691AA87ACB}"/>
              </a:ext>
            </a:extLst>
          </p:cNvPr>
          <p:cNvSpPr>
            <a:spLocks xmlns:a="http://schemas.openxmlformats.org/drawingml/2006/main" noGrp="1"/>
          </p:cNvSpPr>
          <p:nvPr/>
        </p:nvSpPr>
        <p:spPr>
          <a:xfrm xmlns:a="http://schemas.openxmlformats.org/drawingml/2006/main">
            <a:off x="31813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8" name="metric-value">
            <a:extLst xmlns:a="http://schemas.openxmlformats.org/drawingml/2006/main">
              <a:ext uri="{FF2B5EF4-FFF2-40B4-BE49-F238E27FC236}">
                <a16:creationId xmlns:a16="http://schemas.microsoft.com/office/drawing/2014/main" id="{61FC90A9-4625-4FE8-B671-BA64038EB545}"/>
              </a:ext>
            </a:extLst>
          </p:cNvPr>
          <p:cNvSpPr>
            <a:spLocks xmlns:a="http://schemas.openxmlformats.org/drawingml/2006/main" noGrp="1"/>
          </p:cNvSpPr>
          <p:nvPr/>
        </p:nvSpPr>
        <p:spPr>
          <a:xfrm xmlns:a="http://schemas.openxmlformats.org/drawingml/2006/main">
            <a:off x="33909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37</a:t>
            </a:r>
          </a:p>
        </p:txBody>
      </p:sp>
      <p:sp>
        <p:nvSpPr>
          <p:cNvPr id="9" name="metric-label">
            <a:extLst xmlns:a="http://schemas.openxmlformats.org/drawingml/2006/main">
              <a:ext uri="{FF2B5EF4-FFF2-40B4-BE49-F238E27FC236}">
                <a16:creationId xmlns:a16="http://schemas.microsoft.com/office/drawing/2014/main" id="{4BA087DC-ADBF-42C8-B8B6-0537F84BB60F}"/>
              </a:ext>
            </a:extLst>
          </p:cNvPr>
          <p:cNvSpPr>
            <a:spLocks xmlns:a="http://schemas.openxmlformats.org/drawingml/2006/main" noGrp="1"/>
          </p:cNvSpPr>
          <p:nvPr/>
        </p:nvSpPr>
        <p:spPr>
          <a:xfrm xmlns:a="http://schemas.openxmlformats.org/drawingml/2006/main">
            <a:off x="33909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Đặc trưng đầu vào</a:t>
            </a:r>
          </a:p>
        </p:txBody>
      </p:sp>
      <p:sp>
        <p:nvSpPr>
          <p:cNvPr id="10" name="metric-panel">
            <a:extLst xmlns:a="http://schemas.openxmlformats.org/drawingml/2006/main">
              <a:ext uri="{FF2B5EF4-FFF2-40B4-BE49-F238E27FC236}">
                <a16:creationId xmlns:a16="http://schemas.microsoft.com/office/drawing/2014/main" id="{C0E6EB8A-E1ED-470E-BE2C-30807F4B9116}"/>
              </a:ext>
            </a:extLst>
          </p:cNvPr>
          <p:cNvSpPr>
            <a:spLocks xmlns:a="http://schemas.openxmlformats.org/drawingml/2006/main" noGrp="1"/>
          </p:cNvSpPr>
          <p:nvPr/>
        </p:nvSpPr>
        <p:spPr>
          <a:xfrm xmlns:a="http://schemas.openxmlformats.org/drawingml/2006/main">
            <a:off x="5962650" y="2266950"/>
            <a:ext cx="2495550" cy="1771650"/>
          </a:xfrm>
          <a:prstGeom xmlns:a="http://schemas.openxmlformats.org/drawingml/2006/main" prst="roundRect">
            <a:avLst>
              <a:gd name="adj" fmla="val 4301"/>
            </a:avLst>
          </a:prstGeom>
          <a:solidFill xmlns:a="http://schemas.openxmlformats.org/drawingml/2006/main">
            <a:srgbClr val="FFF0E9"/>
          </a:solidFill>
          <a:ln xmlns:a="http://schemas.openxmlformats.org/drawingml/2006/main" w="0">
            <a:noFill/>
            <a:prstDash val="solid"/>
          </a:ln>
        </p:spPr>
      </p:sp>
      <p:sp>
        <p:nvSpPr>
          <p:cNvPr id="11" name="metric-value">
            <a:extLst xmlns:a="http://schemas.openxmlformats.org/drawingml/2006/main">
              <a:ext uri="{FF2B5EF4-FFF2-40B4-BE49-F238E27FC236}">
                <a16:creationId xmlns:a16="http://schemas.microsoft.com/office/drawing/2014/main" id="{8F4994E8-8AF7-4A0F-A8C1-D13DBC78DA90}"/>
              </a:ext>
            </a:extLst>
          </p:cNvPr>
          <p:cNvSpPr>
            <a:spLocks xmlns:a="http://schemas.openxmlformats.org/drawingml/2006/main" noGrp="1"/>
          </p:cNvSpPr>
          <p:nvPr/>
        </p:nvSpPr>
        <p:spPr>
          <a:xfrm xmlns:a="http://schemas.openxmlformats.org/drawingml/2006/main">
            <a:off x="61722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FF6B35"/>
                </a:solidFill>
              </a:defRPr>
            </a:pPr>
            <a:r>
              <a:rPr sz="3450" b="1">
                <a:solidFill>
                  <a:srgbClr val="FF6B35"/>
                </a:solidFill>
              </a:rPr>
              <a:t>R² 0,53</a:t>
            </a:r>
          </a:p>
        </p:txBody>
      </p:sp>
      <p:sp>
        <p:nvSpPr>
          <p:cNvPr id="12" name="metric-label">
            <a:extLst xmlns:a="http://schemas.openxmlformats.org/drawingml/2006/main">
              <a:ext uri="{FF2B5EF4-FFF2-40B4-BE49-F238E27FC236}">
                <a16:creationId xmlns:a16="http://schemas.microsoft.com/office/drawing/2014/main" id="{13821A96-F22A-4166-9859-5F8FA3C65228}"/>
              </a:ext>
            </a:extLst>
          </p:cNvPr>
          <p:cNvSpPr>
            <a:spLocks xmlns:a="http://schemas.openxmlformats.org/drawingml/2006/main" noGrp="1"/>
          </p:cNvSpPr>
          <p:nvPr/>
        </p:nvSpPr>
        <p:spPr>
          <a:xfrm xmlns:a="http://schemas.openxmlformats.org/drawingml/2006/main">
            <a:off x="61722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Trên random held-out split</a:t>
            </a:r>
          </a:p>
        </p:txBody>
      </p:sp>
      <p:sp>
        <p:nvSpPr>
          <p:cNvPr id="13" name="metric-panel">
            <a:extLst xmlns:a="http://schemas.openxmlformats.org/drawingml/2006/main">
              <a:ext uri="{FF2B5EF4-FFF2-40B4-BE49-F238E27FC236}">
                <a16:creationId xmlns:a16="http://schemas.microsoft.com/office/drawing/2014/main" id="{32A1C385-50D5-4C72-8E4F-535BCAE1AB87}"/>
              </a:ext>
            </a:extLst>
          </p:cNvPr>
          <p:cNvSpPr>
            <a:spLocks xmlns:a="http://schemas.openxmlformats.org/drawingml/2006/main" noGrp="1"/>
          </p:cNvSpPr>
          <p:nvPr/>
        </p:nvSpPr>
        <p:spPr>
          <a:xfrm xmlns:a="http://schemas.openxmlformats.org/drawingml/2006/main">
            <a:off x="87439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14" name="metric-value">
            <a:extLst xmlns:a="http://schemas.openxmlformats.org/drawingml/2006/main">
              <a:ext uri="{FF2B5EF4-FFF2-40B4-BE49-F238E27FC236}">
                <a16:creationId xmlns:a16="http://schemas.microsoft.com/office/drawing/2014/main" id="{40A35F44-D67F-4E07-9DE2-38766C1D77F2}"/>
              </a:ext>
            </a:extLst>
          </p:cNvPr>
          <p:cNvSpPr>
            <a:spLocks xmlns:a="http://schemas.openxmlformats.org/drawingml/2006/main" noGrp="1"/>
          </p:cNvSpPr>
          <p:nvPr/>
        </p:nvSpPr>
        <p:spPr>
          <a:xfrm xmlns:a="http://schemas.openxmlformats.org/drawingml/2006/main">
            <a:off x="89535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10,4M</a:t>
            </a:r>
          </a:p>
        </p:txBody>
      </p:sp>
      <p:sp>
        <p:nvSpPr>
          <p:cNvPr id="15" name="metric-label">
            <a:extLst xmlns:a="http://schemas.openxmlformats.org/drawingml/2006/main">
              <a:ext uri="{FF2B5EF4-FFF2-40B4-BE49-F238E27FC236}">
                <a16:creationId xmlns:a16="http://schemas.microsoft.com/office/drawing/2014/main" id="{30389DE8-7376-42F1-99C6-24DA3C6B1CB1}"/>
              </a:ext>
            </a:extLst>
          </p:cNvPr>
          <p:cNvSpPr>
            <a:spLocks xmlns:a="http://schemas.openxmlformats.org/drawingml/2006/main" noGrp="1"/>
          </p:cNvSpPr>
          <p:nvPr/>
        </p:nvSpPr>
        <p:spPr>
          <a:xfrm xmlns:a="http://schemas.openxmlformats.org/drawingml/2006/main">
            <a:off x="89535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MAE triệu VND/tháng</a:t>
            </a:r>
          </a:p>
        </p:txBody>
      </p:sp>
      <p:sp>
        <p:nvSpPr>
          <p:cNvPr id="16" name="model-code-panel">
            <a:extLst xmlns:a="http://schemas.openxmlformats.org/drawingml/2006/main">
              <a:ext uri="{FF2B5EF4-FFF2-40B4-BE49-F238E27FC236}">
                <a16:creationId xmlns:a16="http://schemas.microsoft.com/office/drawing/2014/main" id="{6B99D928-3ABD-4902-A112-0845AD9FDAC5}"/>
              </a:ext>
            </a:extLst>
          </p:cNvPr>
          <p:cNvSpPr>
            <a:spLocks xmlns:a="http://schemas.openxmlformats.org/drawingml/2006/main" noGrp="1"/>
          </p:cNvSpPr>
          <p:nvPr/>
        </p:nvSpPr>
        <p:spPr>
          <a:xfrm xmlns:a="http://schemas.openxmlformats.org/drawingml/2006/main">
            <a:off x="400050" y="4495800"/>
            <a:ext cx="6515100" cy="1400175"/>
          </a:xfrm>
          <a:prstGeom xmlns:a="http://schemas.openxmlformats.org/drawingml/2006/main" prst="roundRect">
            <a:avLst>
              <a:gd name="adj" fmla="val 5442"/>
            </a:avLst>
          </a:prstGeom>
          <a:solidFill xmlns:a="http://schemas.openxmlformats.org/drawingml/2006/main">
            <a:srgbClr val="202124"/>
          </a:solidFill>
          <a:ln xmlns:a="http://schemas.openxmlformats.org/drawingml/2006/main" w="0">
            <a:noFill/>
            <a:prstDash val="solid"/>
          </a:ln>
        </p:spPr>
      </p:sp>
      <p:sp>
        <p:nvSpPr>
          <p:cNvPr id="17" name="model-code-label">
            <a:extLst xmlns:a="http://schemas.openxmlformats.org/drawingml/2006/main">
              <a:ext uri="{FF2B5EF4-FFF2-40B4-BE49-F238E27FC236}">
                <a16:creationId xmlns:a16="http://schemas.microsoft.com/office/drawing/2014/main" id="{E7158E14-E336-48D2-8F48-565309ECC801}"/>
              </a:ext>
            </a:extLst>
          </p:cNvPr>
          <p:cNvSpPr>
            <a:spLocks xmlns:a="http://schemas.openxmlformats.org/drawingml/2006/main" noGrp="1"/>
          </p:cNvSpPr>
          <p:nvPr/>
        </p:nvSpPr>
        <p:spPr>
          <a:xfrm xmlns:a="http://schemas.openxmlformats.org/drawingml/2006/main">
            <a:off x="647700" y="46863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FF6B35"/>
                </a:solidFill>
              </a:defRPr>
            </a:pPr>
            <a:r>
              <a:rPr sz="1050" b="1">
                <a:solidFill>
                  <a:srgbClr val="FF6B35"/>
                </a:solidFill>
              </a:rPr>
              <a:t>modeling/salary_regression.py</a:t>
            </a:r>
          </a:p>
        </p:txBody>
      </p:sp>
      <p:sp>
        <p:nvSpPr>
          <p:cNvPr id="18" name="model-code">
            <a:extLst xmlns:a="http://schemas.openxmlformats.org/drawingml/2006/main">
              <a:ext uri="{FF2B5EF4-FFF2-40B4-BE49-F238E27FC236}">
                <a16:creationId xmlns:a16="http://schemas.microsoft.com/office/drawing/2014/main" id="{B965B04B-939C-4B79-9C94-7032C8CAE372}"/>
              </a:ext>
            </a:extLst>
          </p:cNvPr>
          <p:cNvSpPr>
            <a:spLocks xmlns:a="http://schemas.openxmlformats.org/drawingml/2006/main" noGrp="1"/>
          </p:cNvSpPr>
          <p:nvPr/>
        </p:nvSpPr>
        <p:spPr>
          <a:xfrm xmlns:a="http://schemas.openxmlformats.org/drawingml/2006/main">
            <a:off x="647700" y="49911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00000"/>
              </a:lnSpc>
              <a:buNone/>
              <a:defRPr sz="1125">
                <a:solidFill>
                  <a:srgbClr val="F3F4F6"/>
                </a:solidFill>
              </a:defRPr>
            </a:pPr>
            <a:r>
              <a:rPr sz="1125">
                <a:solidFill>
                  <a:srgbClr val="F3F4F6"/>
                </a:solidFill>
              </a:rPr>
              <a:t>pipeline = Pipeline([("preprocess", preprocessor),</a:t>
            </a:r>
          </a:p>
          <a:p xmlns:a="http://schemas.openxmlformats.org/drawingml/2006/main">
            <a:pPr>
              <a:lnSpc>
                <a:spcPct val="100000"/>
              </a:lnSpc>
              <a:buNone/>
              <a:defRPr sz="1125">
                <a:solidFill>
                  <a:srgbClr val="F3F4F6"/>
                </a:solidFill>
              </a:defRPr>
            </a:pPr>
            <a:r>
              <a:rPr sz="1125">
                <a:solidFill>
                  <a:srgbClr val="F3F4F6"/>
                </a:solidFill>
              </a:rPr>
              <a:t>                     ("model", LinearRegression())])</a:t>
            </a:r>
          </a:p>
          <a:p xmlns:a="http://schemas.openxmlformats.org/drawingml/2006/main">
            <a:pPr>
              <a:lnSpc>
                <a:spcPct val="100000"/>
              </a:lnSpc>
              <a:buNone/>
              <a:defRPr sz="1125">
                <a:solidFill>
                  <a:srgbClr val="F3F4F6"/>
                </a:solidFill>
              </a:defRPr>
            </a:pPr>
            <a:r>
              <a:rPr sz="1125">
                <a:solidFill>
                  <a:srgbClr val="F3F4F6"/>
                </a:solidFill>
              </a:rPr>
              <a:t>y_pred = pipeline.fit(x_train, y_train).predict(x_test)</a:t>
            </a:r>
          </a:p>
        </p:txBody>
      </p:sp>
      <p:sp>
        <p:nvSpPr>
          <p:cNvPr id="19" name="model-warning">
            <a:extLst xmlns:a="http://schemas.openxmlformats.org/drawingml/2006/main">
              <a:ext uri="{FF2B5EF4-FFF2-40B4-BE49-F238E27FC236}">
                <a16:creationId xmlns:a16="http://schemas.microsoft.com/office/drawing/2014/main" id="{528E04AB-61A4-4342-99AE-3DB213701967}"/>
              </a:ext>
            </a:extLst>
          </p:cNvPr>
          <p:cNvSpPr>
            <a:spLocks xmlns:a="http://schemas.openxmlformats.org/drawingml/2006/main" noGrp="1"/>
          </p:cNvSpPr>
          <p:nvPr/>
        </p:nvSpPr>
        <p:spPr>
          <a:xfrm xmlns:a="http://schemas.openxmlformats.org/drawingml/2006/main">
            <a:off x="7239000" y="4495800"/>
            <a:ext cx="4000500" cy="1400175"/>
          </a:xfrm>
          <a:prstGeom xmlns:a="http://schemas.openxmlformats.org/drawingml/2006/main" prst="roundRect">
            <a:avLst>
              <a:gd name="adj" fmla="val 5442"/>
            </a:avLst>
          </a:prstGeom>
          <a:solidFill xmlns:a="http://schemas.openxmlformats.org/drawingml/2006/main">
            <a:srgbClr val="FFF0E9"/>
          </a:solidFill>
          <a:ln xmlns:a="http://schemas.openxmlformats.org/drawingml/2006/main" w="9525">
            <a:solidFill>
              <a:srgbClr val="FFD6C5"/>
            </a:solidFill>
            <a:prstDash val="solid"/>
          </a:ln>
        </p:spPr>
      </p:sp>
      <p:sp>
        <p:nvSpPr>
          <p:cNvPr id="20" name="model-warning-title">
            <a:extLst xmlns:a="http://schemas.openxmlformats.org/drawingml/2006/main">
              <a:ext uri="{FF2B5EF4-FFF2-40B4-BE49-F238E27FC236}">
                <a16:creationId xmlns:a16="http://schemas.microsoft.com/office/drawing/2014/main" id="{6ED70B36-A0B7-49CE-A169-A7582D81918F}"/>
              </a:ext>
            </a:extLst>
          </p:cNvPr>
          <p:cNvSpPr>
            <a:spLocks xmlns:a="http://schemas.openxmlformats.org/drawingml/2006/main" noGrp="1"/>
          </p:cNvSpPr>
          <p:nvPr/>
        </p:nvSpPr>
        <p:spPr>
          <a:xfrm xmlns:a="http://schemas.openxmlformats.org/drawingml/2006/main">
            <a:off x="7505700" y="46863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FF6B35"/>
                </a:solidFill>
              </a:defRPr>
            </a:pPr>
            <a:r>
              <a:rPr sz="1500" b="1">
                <a:solidFill>
                  <a:srgbClr val="FF6B35"/>
                </a:solidFill>
              </a:rPr>
              <a:t>Giới hạn</a:t>
            </a:r>
          </a:p>
        </p:txBody>
      </p:sp>
      <p:sp>
        <p:nvSpPr>
          <p:cNvPr id="21" name="model-warning-body">
            <a:extLst xmlns:a="http://schemas.openxmlformats.org/drawingml/2006/main">
              <a:ext uri="{FF2B5EF4-FFF2-40B4-BE49-F238E27FC236}">
                <a16:creationId xmlns:a16="http://schemas.microsoft.com/office/drawing/2014/main" id="{7AF2C683-229B-4266-8959-D2FFECC4D534}"/>
              </a:ext>
            </a:extLst>
          </p:cNvPr>
          <p:cNvSpPr>
            <a:spLocks xmlns:a="http://schemas.openxmlformats.org/drawingml/2006/main" noGrp="1"/>
          </p:cNvSpPr>
          <p:nvPr/>
        </p:nvSpPr>
        <p:spPr>
          <a:xfrm xmlns:a="http://schemas.openxmlformats.org/drawingml/2006/main">
            <a:off x="7505700" y="5048250"/>
            <a:ext cx="32861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a:solidFill>
                  <a:srgbClr val="595959"/>
                </a:solidFill>
              </a:defRPr>
            </a:pPr>
            <a:r>
              <a:rPr sz="1350">
                <a:solidFill>
                  <a:srgbClr val="595959"/>
                </a:solidFill>
              </a:rPr>
              <a:t>Random split ≠ dự báo tương lai.</a:t>
            </a:r>
          </a:p>
          <a:p xmlns:a="http://schemas.openxmlformats.org/drawingml/2006/main">
            <a:pPr>
              <a:buNone/>
              <a:defRPr sz="1350">
                <a:solidFill>
                  <a:srgbClr val="595959"/>
                </a:solidFill>
              </a:defRPr>
            </a:pPr>
            <a:r>
              <a:rPr sz="1350">
                <a:solidFill>
                  <a:srgbClr val="595959"/>
                </a:solidFill>
              </a:rPr>
              <a:t>Khoảng 90% còn rộng:</a:t>
            </a:r>
          </a:p>
          <a:p xmlns:a="http://schemas.openxmlformats.org/drawingml/2006/main">
            <a:pPr>
              <a:buNone/>
              <a:defRPr sz="1350">
                <a:solidFill>
                  <a:srgbClr val="595959"/>
                </a:solidFill>
              </a:defRPr>
            </a:pPr>
            <a:r>
              <a:rPr sz="1350">
                <a:solidFill>
                  <a:srgbClr val="595959"/>
                </a:solidFill>
              </a:rPr>
              <a:t>0,49×–2,05× estimate điểm.</a:t>
            </a:r>
          </a:p>
        </p:txBody>
      </p:sp>
      <p:sp>
        <p:nvSpPr>
          <p:cNvPr id="22" name="rule">
            <a:extLst xmlns:a="http://schemas.openxmlformats.org/drawingml/2006/main">
              <a:ext uri="{FF2B5EF4-FFF2-40B4-BE49-F238E27FC236}">
                <a16:creationId xmlns:a16="http://schemas.microsoft.com/office/drawing/2014/main" id="{6A7711E0-0524-4F7D-B3A7-B59A04B4F012}"/>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23" name="source">
            <a:extLst xmlns:a="http://schemas.openxmlformats.org/drawingml/2006/main">
              <a:ext uri="{FF2B5EF4-FFF2-40B4-BE49-F238E27FC236}">
                <a16:creationId xmlns:a16="http://schemas.microsoft.com/office/drawing/2014/main" id="{3089E360-E160-4CA2-A8B0-646CAC404DFD}"/>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data/modeling/salary_regression/safe_baseline/metrics.csv và data_audit.csv</a:t>
            </a:r>
          </a:p>
        </p:txBody>
      </p:sp>
      <p:sp>
        <p:nvSpPr>
          <p:cNvPr id="24" name="slide-number">
            <a:extLst xmlns:a="http://schemas.openxmlformats.org/drawingml/2006/main">
              <a:ext uri="{FF2B5EF4-FFF2-40B4-BE49-F238E27FC236}">
                <a16:creationId xmlns:a16="http://schemas.microsoft.com/office/drawing/2014/main" id="{6D5EF61E-E206-4264-BA41-127AF186B2B2}"/>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07</a:t>
            </a:r>
          </a:p>
        </p:txBody>
      </p:sp>
    </p:spTree>
    <p:extLst>
      <p:ext uri="{BB962C8B-B14F-4D97-AF65-F5344CB8AC3E}">
        <p14:creationId xmlns:p14="http://schemas.microsoft.com/office/powerpoint/2010/main" val="2796692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56CA6138-74E6-4942-B62F-3A13D97950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452F5FEE-F462-45BD-B66D-AF27078AB092}"/>
              </a:ext>
            </a:extLst>
          </p:cNvPr>
          <p:cNvSpPr>
            <a:spLocks xmlns:a="http://schemas.openxmlformats.org/drawingml/2006/main" noGrp="1"/>
          </p:cNvSpPr>
          <p:nvPr/>
        </p:nvSpPr>
        <p:spPr>
          <a:xfrm xmlns:a="http://schemas.openxmlformats.org/drawingml/2006/main">
            <a:off x="400050" y="3714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050" b="1">
                <a:solidFill>
                  <a:srgbClr val="595959"/>
                </a:solidFill>
              </a:defRPr>
            </a:pPr>
            <a:r>
              <a:rPr sz="1050" b="1">
                <a:solidFill>
                  <a:srgbClr val="595959"/>
                </a:solidFill>
              </a:rPr>
              <a:t>07 — demo trực tiếp</a:t>
            </a:r>
          </a:p>
        </p:txBody>
      </p:sp>
      <p:sp>
        <p:nvSpPr>
          <p:cNvPr id="3" name="title">
            <a:extLst xmlns:a="http://schemas.openxmlformats.org/drawingml/2006/main">
              <a:ext uri="{FF2B5EF4-FFF2-40B4-BE49-F238E27FC236}">
                <a16:creationId xmlns:a16="http://schemas.microsoft.com/office/drawing/2014/main" id="{B74AB017-AEFB-463B-8140-4F15C4B28496}"/>
              </a:ext>
            </a:extLst>
          </p:cNvPr>
          <p:cNvSpPr>
            <a:spLocks xmlns:a="http://schemas.openxmlformats.org/drawingml/2006/main" noGrp="1"/>
          </p:cNvSpPr>
          <p:nvPr/>
        </p:nvSpPr>
        <p:spPr>
          <a:xfrm xmlns:a="http://schemas.openxmlformats.org/drawingml/2006/main">
            <a:off x="400050" y="76200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3225" b="1">
                <a:solidFill>
                  <a:srgbClr val="111111"/>
                </a:solidFill>
              </a:defRPr>
            </a:pPr>
            <a:r>
              <a:rPr sz="3225" b="1">
                <a:solidFill>
                  <a:srgbClr val="111111"/>
                </a:solidFill>
              </a:rPr>
              <a:t>Demo: Streamlit dùng model đã train</a:t>
            </a:r>
          </a:p>
        </p:txBody>
      </p:sp>
      <p:sp>
        <p:nvSpPr>
          <p:cNvPr id="4" name="subtitle">
            <a:extLst xmlns:a="http://schemas.openxmlformats.org/drawingml/2006/main">
              <a:ext uri="{FF2B5EF4-FFF2-40B4-BE49-F238E27FC236}">
                <a16:creationId xmlns:a16="http://schemas.microsoft.com/office/drawing/2014/main" id="{62E35924-20C7-4E9E-BDD0-6B8212569DA4}"/>
              </a:ext>
            </a:extLst>
          </p:cNvPr>
          <p:cNvSpPr>
            <a:spLocks xmlns:a="http://schemas.openxmlformats.org/drawingml/2006/main" noGrp="1"/>
          </p:cNvSpPr>
          <p:nvPr/>
        </p:nvSpPr>
        <p:spPr>
          <a:xfrm xmlns:a="http://schemas.openxmlformats.org/drawingml/2006/main">
            <a:off x="400050" y="14573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500" b="0">
                <a:solidFill>
                  <a:srgbClr val="595959"/>
                </a:solidFill>
              </a:defRPr>
            </a:pPr>
            <a:r>
              <a:rPr sz="1500" b="0">
                <a:solidFill>
                  <a:srgbClr val="595959"/>
                </a:solidFill>
              </a:rPr>
              <a:t>Nhập thông tin job → load safe_baseline/model.joblib → trả về ước lượng lương và khoảng sai số.</a:t>
            </a:r>
          </a:p>
        </p:txBody>
      </p:sp>
      <p:sp>
        <p:nvSpPr>
          <p:cNvPr id="5" name="streamlit-window">
            <a:extLst xmlns:a="http://schemas.openxmlformats.org/drawingml/2006/main">
              <a:ext uri="{FF2B5EF4-FFF2-40B4-BE49-F238E27FC236}">
                <a16:creationId xmlns:a16="http://schemas.microsoft.com/office/drawing/2014/main" id="{92C4DFAC-A492-4BBC-A202-F50F13B55B2F}"/>
              </a:ext>
            </a:extLst>
          </p:cNvPr>
          <p:cNvSpPr>
            <a:spLocks xmlns:a="http://schemas.openxmlformats.org/drawingml/2006/main" noGrp="1"/>
          </p:cNvSpPr>
          <p:nvPr/>
        </p:nvSpPr>
        <p:spPr>
          <a:xfrm xmlns:a="http://schemas.openxmlformats.org/drawingml/2006/main">
            <a:off x="400050" y="2047875"/>
            <a:ext cx="638175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7D9DD"/>
            </a:solidFill>
            <a:prstDash val="solid"/>
          </a:ln>
        </p:spPr>
      </p:sp>
      <p:sp>
        <p:nvSpPr>
          <p:cNvPr id="6" name="streamlit-topbar">
            <a:extLst xmlns:a="http://schemas.openxmlformats.org/drawingml/2006/main">
              <a:ext uri="{FF2B5EF4-FFF2-40B4-BE49-F238E27FC236}">
                <a16:creationId xmlns:a16="http://schemas.microsoft.com/office/drawing/2014/main" id="{B3122379-97F5-402E-A1CD-FD4E13FA23CD}"/>
              </a:ext>
            </a:extLst>
          </p:cNvPr>
          <p:cNvSpPr>
            <a:spLocks xmlns:a="http://schemas.openxmlformats.org/drawingml/2006/main" noGrp="1"/>
          </p:cNvSpPr>
          <p:nvPr/>
        </p:nvSpPr>
        <p:spPr>
          <a:xfrm xmlns:a="http://schemas.openxmlformats.org/drawingml/2006/main">
            <a:off x="400050" y="2047875"/>
            <a:ext cx="6381750" cy="285750"/>
          </a:xfrm>
          <a:prstGeom xmlns:a="http://schemas.openxmlformats.org/drawingml/2006/main" prst="roundRect">
            <a:avLst>
              <a:gd name="adj" fmla="val 40000"/>
            </a:avLst>
          </a:prstGeom>
          <a:solidFill xmlns:a="http://schemas.openxmlformats.org/drawingml/2006/main">
            <a:srgbClr val="E9ECF0"/>
          </a:solidFill>
          <a:ln xmlns:a="http://schemas.openxmlformats.org/drawingml/2006/main" w="0">
            <a:noFill/>
            <a:prstDash val="solid"/>
          </a:ln>
        </p:spPr>
      </p:sp>
      <p:sp>
        <p:nvSpPr>
          <p:cNvPr id="7" name="dot-1">
            <a:extLst xmlns:a="http://schemas.openxmlformats.org/drawingml/2006/main">
              <a:ext uri="{FF2B5EF4-FFF2-40B4-BE49-F238E27FC236}">
                <a16:creationId xmlns:a16="http://schemas.microsoft.com/office/drawing/2014/main" id="{5054B9B8-4A99-47D4-A442-EF0011BED45D}"/>
              </a:ext>
            </a:extLst>
          </p:cNvPr>
          <p:cNvSpPr>
            <a:spLocks xmlns:a="http://schemas.openxmlformats.org/drawingml/2006/main" noGrp="1"/>
          </p:cNvSpPr>
          <p:nvPr/>
        </p:nvSpPr>
        <p:spPr>
          <a:xfrm xmlns:a="http://schemas.openxmlformats.org/drawingml/2006/main">
            <a:off x="561975" y="2143125"/>
            <a:ext cx="76200" cy="76200"/>
          </a:xfrm>
          <a:prstGeom xmlns:a="http://schemas.openxmlformats.org/drawingml/2006/main" prst="ellipse">
            <a:avLst/>
          </a:prstGeom>
          <a:solidFill xmlns:a="http://schemas.openxmlformats.org/drawingml/2006/main">
            <a:srgbClr val="FF7E5F"/>
          </a:solidFill>
          <a:ln xmlns:a="http://schemas.openxmlformats.org/drawingml/2006/main" w="0">
            <a:noFill/>
            <a:prstDash val="solid"/>
          </a:ln>
        </p:spPr>
      </p:sp>
      <p:sp>
        <p:nvSpPr>
          <p:cNvPr id="8" name="dot-2">
            <a:extLst xmlns:a="http://schemas.openxmlformats.org/drawingml/2006/main">
              <a:ext uri="{FF2B5EF4-FFF2-40B4-BE49-F238E27FC236}">
                <a16:creationId xmlns:a16="http://schemas.microsoft.com/office/drawing/2014/main" id="{E128255C-2402-4BAB-8596-4045A59F8705}"/>
              </a:ext>
            </a:extLst>
          </p:cNvPr>
          <p:cNvSpPr>
            <a:spLocks xmlns:a="http://schemas.openxmlformats.org/drawingml/2006/main" noGrp="1"/>
          </p:cNvSpPr>
          <p:nvPr/>
        </p:nvSpPr>
        <p:spPr>
          <a:xfrm xmlns:a="http://schemas.openxmlformats.org/drawingml/2006/main">
            <a:off x="685800" y="2143125"/>
            <a:ext cx="76200" cy="76200"/>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9" name="dot-3">
            <a:extLst xmlns:a="http://schemas.openxmlformats.org/drawingml/2006/main">
              <a:ext uri="{FF2B5EF4-FFF2-40B4-BE49-F238E27FC236}">
                <a16:creationId xmlns:a16="http://schemas.microsoft.com/office/drawing/2014/main" id="{1D5BAD9E-7381-4943-BF6E-2B271DA29C7E}"/>
              </a:ext>
            </a:extLst>
          </p:cNvPr>
          <p:cNvSpPr>
            <a:spLocks xmlns:a="http://schemas.openxmlformats.org/drawingml/2006/main" noGrp="1"/>
          </p:cNvSpPr>
          <p:nvPr/>
        </p:nvSpPr>
        <p:spPr>
          <a:xfrm xmlns:a="http://schemas.openxmlformats.org/drawingml/2006/main">
            <a:off x="809625" y="2143125"/>
            <a:ext cx="76200" cy="76200"/>
          </a:xfrm>
          <a:prstGeom xmlns:a="http://schemas.openxmlformats.org/drawingml/2006/main" prst="ellipse">
            <a:avLst/>
          </a:prstGeom>
          <a:solidFill xmlns:a="http://schemas.openxmlformats.org/drawingml/2006/main">
            <a:srgbClr val="5CB85C"/>
          </a:solidFill>
          <a:ln xmlns:a="http://schemas.openxmlformats.org/drawingml/2006/main" w="0">
            <a:noFill/>
            <a:prstDash val="solid"/>
          </a:ln>
        </p:spPr>
      </p:sp>
      <p:sp>
        <p:nvSpPr>
          <p:cNvPr id="10" name="app-title">
            <a:extLst xmlns:a="http://schemas.openxmlformats.org/drawingml/2006/main">
              <a:ext uri="{FF2B5EF4-FFF2-40B4-BE49-F238E27FC236}">
                <a16:creationId xmlns:a16="http://schemas.microsoft.com/office/drawing/2014/main" id="{71499E6A-5DF9-4A3D-82F3-745691746F66}"/>
              </a:ext>
            </a:extLst>
          </p:cNvPr>
          <p:cNvSpPr>
            <a:spLocks xmlns:a="http://schemas.openxmlformats.org/drawingml/2006/main" noGrp="1"/>
          </p:cNvSpPr>
          <p:nvPr/>
        </p:nvSpPr>
        <p:spPr>
          <a:xfrm xmlns:a="http://schemas.openxmlformats.org/drawingml/2006/main">
            <a:off x="647700" y="24955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650" b="1">
                <a:solidFill>
                  <a:srgbClr val="111111"/>
                </a:solidFill>
              </a:defRPr>
            </a:pPr>
            <a:r>
              <a:rPr sz="1650" b="1">
                <a:solidFill>
                  <a:srgbClr val="111111"/>
                </a:solidFill>
              </a:rPr>
              <a:t>IT Salary Linear Regression</a:t>
            </a:r>
          </a:p>
        </p:txBody>
      </p:sp>
      <p:sp>
        <p:nvSpPr>
          <p:cNvPr id="11" name="app-caption">
            <a:extLst xmlns:a="http://schemas.openxmlformats.org/drawingml/2006/main">
              <a:ext uri="{FF2B5EF4-FFF2-40B4-BE49-F238E27FC236}">
                <a16:creationId xmlns:a16="http://schemas.microsoft.com/office/drawing/2014/main" id="{E90679B5-2CB9-4474-8FE6-D3F69F5AB65C}"/>
              </a:ext>
            </a:extLst>
          </p:cNvPr>
          <p:cNvSpPr>
            <a:spLocks xmlns:a="http://schemas.openxmlformats.org/drawingml/2006/main" noGrp="1"/>
          </p:cNvSpPr>
          <p:nvPr/>
        </p:nvSpPr>
        <p:spPr>
          <a:xfrm xmlns:a="http://schemas.openxmlformats.org/drawingml/2006/main">
            <a:off x="4724400" y="2552700"/>
            <a:ext cx="1714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1050" b="1">
                <a:solidFill>
                  <a:srgbClr val="FF6B35"/>
                </a:solidFill>
              </a:defRPr>
            </a:pPr>
            <a:r>
              <a:rPr sz="1050" b="1">
                <a:solidFill>
                  <a:srgbClr val="FF6B35"/>
                </a:solidFill>
              </a:rPr>
              <a:t>Predict  ·  Model  ·  Usage</a:t>
            </a:r>
          </a:p>
        </p:txBody>
      </p:sp>
      <p:sp>
        <p:nvSpPr>
          <p:cNvPr id="12" name="app-subtitle">
            <a:extLst xmlns:a="http://schemas.openxmlformats.org/drawingml/2006/main">
              <a:ext uri="{FF2B5EF4-FFF2-40B4-BE49-F238E27FC236}">
                <a16:creationId xmlns:a16="http://schemas.microsoft.com/office/drawing/2014/main" id="{B7BB1DC8-9AC2-45B0-AC20-593582D9FFB9}"/>
              </a:ext>
            </a:extLst>
          </p:cNvPr>
          <p:cNvSpPr>
            <a:spLocks xmlns:a="http://schemas.openxmlformats.org/drawingml/2006/main" noGrp="1"/>
          </p:cNvSpPr>
          <p:nvPr/>
        </p:nvSpPr>
        <p:spPr>
          <a:xfrm xmlns:a="http://schemas.openxmlformats.org/drawingml/2006/main">
            <a:off x="647700" y="28765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200" b="1">
                <a:solidFill>
                  <a:srgbClr val="595959"/>
                </a:solidFill>
              </a:defRPr>
            </a:pPr>
            <a:r>
              <a:rPr sz="1200" b="1">
                <a:solidFill>
                  <a:srgbClr val="595959"/>
                </a:solidFill>
              </a:rPr>
              <a:t>Nhập thông tin job</a:t>
            </a:r>
          </a:p>
        </p:txBody>
      </p:sp>
      <p:sp>
        <p:nvSpPr>
          <p:cNvPr id="13" name="label-Source">
            <a:extLst xmlns:a="http://schemas.openxmlformats.org/drawingml/2006/main">
              <a:ext uri="{FF2B5EF4-FFF2-40B4-BE49-F238E27FC236}">
                <a16:creationId xmlns:a16="http://schemas.microsoft.com/office/drawing/2014/main" id="{62D6D9A6-5B14-4B9A-91F5-0A2644C6FAEF}"/>
              </a:ext>
            </a:extLst>
          </p:cNvPr>
          <p:cNvSpPr>
            <a:spLocks xmlns:a="http://schemas.openxmlformats.org/drawingml/2006/main" noGrp="1"/>
          </p:cNvSpPr>
          <p:nvPr/>
        </p:nvSpPr>
        <p:spPr>
          <a:xfrm xmlns:a="http://schemas.openxmlformats.org/drawingml/2006/main">
            <a:off x="647700" y="31908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595959"/>
                </a:solidFill>
              </a:defRPr>
            </a:pPr>
            <a:r>
              <a:rPr sz="900" b="1">
                <a:solidFill>
                  <a:srgbClr val="595959"/>
                </a:solidFill>
              </a:rPr>
              <a:t>Source</a:t>
            </a:r>
          </a:p>
        </p:txBody>
      </p:sp>
      <p:sp>
        <p:nvSpPr>
          <p:cNvPr id="14" name="value-Source">
            <a:extLst xmlns:a="http://schemas.openxmlformats.org/drawingml/2006/main">
              <a:ext uri="{FF2B5EF4-FFF2-40B4-BE49-F238E27FC236}">
                <a16:creationId xmlns:a16="http://schemas.microsoft.com/office/drawing/2014/main" id="{9B0AFB45-82BA-442C-B4D8-CE8D711B93CF}"/>
              </a:ext>
            </a:extLst>
          </p:cNvPr>
          <p:cNvSpPr>
            <a:spLocks xmlns:a="http://schemas.openxmlformats.org/drawingml/2006/main" noGrp="1"/>
          </p:cNvSpPr>
          <p:nvPr/>
        </p:nvSpPr>
        <p:spPr>
          <a:xfrm xmlns:a="http://schemas.openxmlformats.org/drawingml/2006/main">
            <a:off x="647700" y="3390900"/>
            <a:ext cx="1714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D7D9DD"/>
            </a:solidFill>
            <a:prstDash val="solid"/>
          </a:ln>
        </p:spPr>
      </p:sp>
      <p:sp>
        <p:nvSpPr>
          <p:cNvPr id="15" name="text-Source">
            <a:extLst xmlns:a="http://schemas.openxmlformats.org/drawingml/2006/main">
              <a:ext uri="{FF2B5EF4-FFF2-40B4-BE49-F238E27FC236}">
                <a16:creationId xmlns:a16="http://schemas.microsoft.com/office/drawing/2014/main" id="{76D65BB0-F446-4AE0-A803-1CFC8CDCB1F2}"/>
              </a:ext>
            </a:extLst>
          </p:cNvPr>
          <p:cNvSpPr>
            <a:spLocks xmlns:a="http://schemas.openxmlformats.org/drawingml/2006/main" noGrp="1"/>
          </p:cNvSpPr>
          <p:nvPr/>
        </p:nvSpPr>
        <p:spPr>
          <a:xfrm xmlns:a="http://schemas.openxmlformats.org/drawingml/2006/main">
            <a:off x="762000" y="344805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125" b="0">
                <a:solidFill>
                  <a:srgbClr val="111111"/>
                </a:solidFill>
              </a:defRPr>
            </a:pPr>
            <a:r>
              <a:rPr sz="1125" b="0">
                <a:solidFill>
                  <a:srgbClr val="111111"/>
                </a:solidFill>
              </a:rPr>
              <a:t>topcv</a:t>
            </a:r>
          </a:p>
        </p:txBody>
      </p:sp>
      <p:sp>
        <p:nvSpPr>
          <p:cNvPr id="16" name="label-Location">
            <a:extLst xmlns:a="http://schemas.openxmlformats.org/drawingml/2006/main">
              <a:ext uri="{FF2B5EF4-FFF2-40B4-BE49-F238E27FC236}">
                <a16:creationId xmlns:a16="http://schemas.microsoft.com/office/drawing/2014/main" id="{89D6F4D6-BD4C-427D-B1DF-8CB0CAFB64E3}"/>
              </a:ext>
            </a:extLst>
          </p:cNvPr>
          <p:cNvSpPr>
            <a:spLocks xmlns:a="http://schemas.openxmlformats.org/drawingml/2006/main" noGrp="1"/>
          </p:cNvSpPr>
          <p:nvPr/>
        </p:nvSpPr>
        <p:spPr>
          <a:xfrm xmlns:a="http://schemas.openxmlformats.org/drawingml/2006/main">
            <a:off x="647700" y="38481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595959"/>
                </a:solidFill>
              </a:defRPr>
            </a:pPr>
            <a:r>
              <a:rPr sz="900" b="1">
                <a:solidFill>
                  <a:srgbClr val="595959"/>
                </a:solidFill>
              </a:rPr>
              <a:t>Location</a:t>
            </a:r>
          </a:p>
        </p:txBody>
      </p:sp>
      <p:sp>
        <p:nvSpPr>
          <p:cNvPr id="17" name="value-Location">
            <a:extLst xmlns:a="http://schemas.openxmlformats.org/drawingml/2006/main">
              <a:ext uri="{FF2B5EF4-FFF2-40B4-BE49-F238E27FC236}">
                <a16:creationId xmlns:a16="http://schemas.microsoft.com/office/drawing/2014/main" id="{C6F32F5F-1B4E-4C83-9F23-5F70276EC2DC}"/>
              </a:ext>
            </a:extLst>
          </p:cNvPr>
          <p:cNvSpPr>
            <a:spLocks xmlns:a="http://schemas.openxmlformats.org/drawingml/2006/main" noGrp="1"/>
          </p:cNvSpPr>
          <p:nvPr/>
        </p:nvSpPr>
        <p:spPr>
          <a:xfrm xmlns:a="http://schemas.openxmlformats.org/drawingml/2006/main">
            <a:off x="647700" y="4048125"/>
            <a:ext cx="1714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D7D9DD"/>
            </a:solidFill>
            <a:prstDash val="solid"/>
          </a:ln>
        </p:spPr>
      </p:sp>
      <p:sp>
        <p:nvSpPr>
          <p:cNvPr id="18" name="text-Location">
            <a:extLst xmlns:a="http://schemas.openxmlformats.org/drawingml/2006/main">
              <a:ext uri="{FF2B5EF4-FFF2-40B4-BE49-F238E27FC236}">
                <a16:creationId xmlns:a16="http://schemas.microsoft.com/office/drawing/2014/main" id="{0D88B8F0-3138-4BE2-83B6-B49143BA757F}"/>
              </a:ext>
            </a:extLst>
          </p:cNvPr>
          <p:cNvSpPr>
            <a:spLocks xmlns:a="http://schemas.openxmlformats.org/drawingml/2006/main" noGrp="1"/>
          </p:cNvSpPr>
          <p:nvPr/>
        </p:nvSpPr>
        <p:spPr>
          <a:xfrm xmlns:a="http://schemas.openxmlformats.org/drawingml/2006/main">
            <a:off x="762000" y="410527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125" b="0">
                <a:solidFill>
                  <a:srgbClr val="111111"/>
                </a:solidFill>
              </a:defRPr>
            </a:pPr>
            <a:r>
              <a:rPr sz="1125" b="0">
                <a:solidFill>
                  <a:srgbClr val="111111"/>
                </a:solidFill>
              </a:rPr>
              <a:t>Ho Chi Minh</a:t>
            </a:r>
          </a:p>
        </p:txBody>
      </p:sp>
      <p:sp>
        <p:nvSpPr>
          <p:cNvPr id="19" name="label-Seniority">
            <a:extLst xmlns:a="http://schemas.openxmlformats.org/drawingml/2006/main">
              <a:ext uri="{FF2B5EF4-FFF2-40B4-BE49-F238E27FC236}">
                <a16:creationId xmlns:a16="http://schemas.microsoft.com/office/drawing/2014/main" id="{86A070C1-C40F-468D-B771-C10A4A38C446}"/>
              </a:ext>
            </a:extLst>
          </p:cNvPr>
          <p:cNvSpPr>
            <a:spLocks xmlns:a="http://schemas.openxmlformats.org/drawingml/2006/main" noGrp="1"/>
          </p:cNvSpPr>
          <p:nvPr/>
        </p:nvSpPr>
        <p:spPr>
          <a:xfrm xmlns:a="http://schemas.openxmlformats.org/drawingml/2006/main">
            <a:off x="2571750" y="31908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595959"/>
                </a:solidFill>
              </a:defRPr>
            </a:pPr>
            <a:r>
              <a:rPr sz="900" b="1">
                <a:solidFill>
                  <a:srgbClr val="595959"/>
                </a:solidFill>
              </a:rPr>
              <a:t>Seniority</a:t>
            </a:r>
          </a:p>
        </p:txBody>
      </p:sp>
      <p:sp>
        <p:nvSpPr>
          <p:cNvPr id="20" name="value-Seniority">
            <a:extLst xmlns:a="http://schemas.openxmlformats.org/drawingml/2006/main">
              <a:ext uri="{FF2B5EF4-FFF2-40B4-BE49-F238E27FC236}">
                <a16:creationId xmlns:a16="http://schemas.microsoft.com/office/drawing/2014/main" id="{793D90A5-ED0F-4D23-BE70-008A2D30D41D}"/>
              </a:ext>
            </a:extLst>
          </p:cNvPr>
          <p:cNvSpPr>
            <a:spLocks xmlns:a="http://schemas.openxmlformats.org/drawingml/2006/main" noGrp="1"/>
          </p:cNvSpPr>
          <p:nvPr/>
        </p:nvSpPr>
        <p:spPr>
          <a:xfrm xmlns:a="http://schemas.openxmlformats.org/drawingml/2006/main">
            <a:off x="2571750" y="3390900"/>
            <a:ext cx="1714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D7D9DD"/>
            </a:solidFill>
            <a:prstDash val="solid"/>
          </a:ln>
        </p:spPr>
      </p:sp>
      <p:sp>
        <p:nvSpPr>
          <p:cNvPr id="21" name="text-Seniority">
            <a:extLst xmlns:a="http://schemas.openxmlformats.org/drawingml/2006/main">
              <a:ext uri="{FF2B5EF4-FFF2-40B4-BE49-F238E27FC236}">
                <a16:creationId xmlns:a16="http://schemas.microsoft.com/office/drawing/2014/main" id="{49E400F9-769C-479F-A8B9-76B63D3AC4BB}"/>
              </a:ext>
            </a:extLst>
          </p:cNvPr>
          <p:cNvSpPr>
            <a:spLocks xmlns:a="http://schemas.openxmlformats.org/drawingml/2006/main" noGrp="1"/>
          </p:cNvSpPr>
          <p:nvPr/>
        </p:nvSpPr>
        <p:spPr>
          <a:xfrm xmlns:a="http://schemas.openxmlformats.org/drawingml/2006/main">
            <a:off x="2686050" y="344805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125" b="0">
                <a:solidFill>
                  <a:srgbClr val="111111"/>
                </a:solidFill>
              </a:defRPr>
            </a:pPr>
            <a:r>
              <a:rPr sz="1125" b="0">
                <a:solidFill>
                  <a:srgbClr val="111111"/>
                </a:solidFill>
              </a:rPr>
              <a:t>middle</a:t>
            </a:r>
          </a:p>
        </p:txBody>
      </p:sp>
      <p:sp>
        <p:nvSpPr>
          <p:cNvPr id="22" name="label-Experience">
            <a:extLst xmlns:a="http://schemas.openxmlformats.org/drawingml/2006/main">
              <a:ext uri="{FF2B5EF4-FFF2-40B4-BE49-F238E27FC236}">
                <a16:creationId xmlns:a16="http://schemas.microsoft.com/office/drawing/2014/main" id="{6EC909F9-C4B4-47D4-B4BA-15F7DA93A5CD}"/>
              </a:ext>
            </a:extLst>
          </p:cNvPr>
          <p:cNvSpPr>
            <a:spLocks xmlns:a="http://schemas.openxmlformats.org/drawingml/2006/main" noGrp="1"/>
          </p:cNvSpPr>
          <p:nvPr/>
        </p:nvSpPr>
        <p:spPr>
          <a:xfrm xmlns:a="http://schemas.openxmlformats.org/drawingml/2006/main">
            <a:off x="2571750" y="38481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595959"/>
                </a:solidFill>
              </a:defRPr>
            </a:pPr>
            <a:r>
              <a:rPr sz="900" b="1">
                <a:solidFill>
                  <a:srgbClr val="595959"/>
                </a:solidFill>
              </a:rPr>
              <a:t>Experience</a:t>
            </a:r>
          </a:p>
        </p:txBody>
      </p:sp>
      <p:sp>
        <p:nvSpPr>
          <p:cNvPr id="23" name="value-Experience">
            <a:extLst xmlns:a="http://schemas.openxmlformats.org/drawingml/2006/main">
              <a:ext uri="{FF2B5EF4-FFF2-40B4-BE49-F238E27FC236}">
                <a16:creationId xmlns:a16="http://schemas.microsoft.com/office/drawing/2014/main" id="{983A76BB-422E-427D-B88D-847A9AB88D45}"/>
              </a:ext>
            </a:extLst>
          </p:cNvPr>
          <p:cNvSpPr>
            <a:spLocks xmlns:a="http://schemas.openxmlformats.org/drawingml/2006/main" noGrp="1"/>
          </p:cNvSpPr>
          <p:nvPr/>
        </p:nvSpPr>
        <p:spPr>
          <a:xfrm xmlns:a="http://schemas.openxmlformats.org/drawingml/2006/main">
            <a:off x="2571750" y="4048125"/>
            <a:ext cx="1714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D7D9DD"/>
            </a:solidFill>
            <a:prstDash val="solid"/>
          </a:ln>
        </p:spPr>
      </p:sp>
      <p:sp>
        <p:nvSpPr>
          <p:cNvPr id="24" name="text-Experience">
            <a:extLst xmlns:a="http://schemas.openxmlformats.org/drawingml/2006/main">
              <a:ext uri="{FF2B5EF4-FFF2-40B4-BE49-F238E27FC236}">
                <a16:creationId xmlns:a16="http://schemas.microsoft.com/office/drawing/2014/main" id="{E808D72D-5952-4942-AAA4-8E4A033F46AD}"/>
              </a:ext>
            </a:extLst>
          </p:cNvPr>
          <p:cNvSpPr>
            <a:spLocks xmlns:a="http://schemas.openxmlformats.org/drawingml/2006/main" noGrp="1"/>
          </p:cNvSpPr>
          <p:nvPr/>
        </p:nvSpPr>
        <p:spPr>
          <a:xfrm xmlns:a="http://schemas.openxmlformats.org/drawingml/2006/main">
            <a:off x="2686050" y="410527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125" b="0">
                <a:solidFill>
                  <a:srgbClr val="111111"/>
                </a:solidFill>
              </a:defRPr>
            </a:pPr>
            <a:r>
              <a:rPr sz="1125" b="0">
                <a:solidFill>
                  <a:srgbClr val="111111"/>
                </a:solidFill>
              </a:rPr>
              <a:t>2.0 years</a:t>
            </a:r>
          </a:p>
        </p:txBody>
      </p:sp>
      <p:sp>
        <p:nvSpPr>
          <p:cNvPr id="25" name="skills-label">
            <a:extLst xmlns:a="http://schemas.openxmlformats.org/drawingml/2006/main">
              <a:ext uri="{FF2B5EF4-FFF2-40B4-BE49-F238E27FC236}">
                <a16:creationId xmlns:a16="http://schemas.microsoft.com/office/drawing/2014/main" id="{6A874A31-F029-4956-A588-9B73A4362380}"/>
              </a:ext>
            </a:extLst>
          </p:cNvPr>
          <p:cNvSpPr>
            <a:spLocks xmlns:a="http://schemas.openxmlformats.org/drawingml/2006/main" noGrp="1"/>
          </p:cNvSpPr>
          <p:nvPr/>
        </p:nvSpPr>
        <p:spPr>
          <a:xfrm xmlns:a="http://schemas.openxmlformats.org/drawingml/2006/main">
            <a:off x="4581525" y="31908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595959"/>
                </a:solidFill>
              </a:defRPr>
            </a:pPr>
            <a:r>
              <a:rPr sz="900" b="1">
                <a:solidFill>
                  <a:srgbClr val="595959"/>
                </a:solidFill>
              </a:rPr>
              <a:t>Recognized top skills</a:t>
            </a:r>
          </a:p>
        </p:txBody>
      </p:sp>
      <p:sp>
        <p:nvSpPr>
          <p:cNvPr id="26" name="skill-box">
            <a:extLst xmlns:a="http://schemas.openxmlformats.org/drawingml/2006/main">
              <a:ext uri="{FF2B5EF4-FFF2-40B4-BE49-F238E27FC236}">
                <a16:creationId xmlns:a16="http://schemas.microsoft.com/office/drawing/2014/main" id="{9639BA42-220B-4C91-A929-CD4A23542C94}"/>
              </a:ext>
            </a:extLst>
          </p:cNvPr>
          <p:cNvSpPr>
            <a:spLocks xmlns:a="http://schemas.openxmlformats.org/drawingml/2006/main" noGrp="1"/>
          </p:cNvSpPr>
          <p:nvPr/>
        </p:nvSpPr>
        <p:spPr>
          <a:xfrm xmlns:a="http://schemas.openxmlformats.org/drawingml/2006/main">
            <a:off x="4581525" y="3390900"/>
            <a:ext cx="1752600" cy="781050"/>
          </a:xfrm>
          <a:prstGeom xmlns:a="http://schemas.openxmlformats.org/drawingml/2006/main" prst="roundRect">
            <a:avLst>
              <a:gd name="adj" fmla="val 14634"/>
            </a:avLst>
          </a:prstGeom>
          <a:solidFill xmlns:a="http://schemas.openxmlformats.org/drawingml/2006/main">
            <a:srgbClr val="FAFBFC"/>
          </a:solidFill>
          <a:ln xmlns:a="http://schemas.openxmlformats.org/drawingml/2006/main" w="9525">
            <a:solidFill>
              <a:srgbClr val="D7D9DD"/>
            </a:solidFill>
            <a:prstDash val="solid"/>
          </a:ln>
        </p:spPr>
      </p:sp>
      <p:sp>
        <p:nvSpPr>
          <p:cNvPr id="27" name="skills-values">
            <a:extLst xmlns:a="http://schemas.openxmlformats.org/drawingml/2006/main">
              <a:ext uri="{FF2B5EF4-FFF2-40B4-BE49-F238E27FC236}">
                <a16:creationId xmlns:a16="http://schemas.microsoft.com/office/drawing/2014/main" id="{6315E893-3E79-4B40-BECF-6B68A3B57F23}"/>
              </a:ext>
            </a:extLst>
          </p:cNvPr>
          <p:cNvSpPr>
            <a:spLocks xmlns:a="http://schemas.openxmlformats.org/drawingml/2006/main" noGrp="1"/>
          </p:cNvSpPr>
          <p:nvPr/>
        </p:nvSpPr>
        <p:spPr>
          <a:xfrm xmlns:a="http://schemas.openxmlformats.org/drawingml/2006/main">
            <a:off x="4705350" y="35242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0000"/>
              </a:lnSpc>
              <a:buNone/>
              <a:defRPr sz="900" b="1">
                <a:solidFill>
                  <a:srgbClr val="FF6B35"/>
                </a:solidFill>
              </a:defRPr>
            </a:pPr>
            <a:r>
              <a:rPr sz="900" b="1">
                <a:solidFill>
                  <a:srgbClr val="FF6B35"/>
                </a:solidFill>
              </a:rPr>
              <a:t>SQL  ·  Python  ·  AWS</a:t>
            </a:r>
          </a:p>
        </p:txBody>
      </p:sp>
      <p:sp>
        <p:nvSpPr>
          <p:cNvPr id="28" name="posted-age">
            <a:extLst xmlns:a="http://schemas.openxmlformats.org/drawingml/2006/main">
              <a:ext uri="{FF2B5EF4-FFF2-40B4-BE49-F238E27FC236}">
                <a16:creationId xmlns:a16="http://schemas.microsoft.com/office/drawing/2014/main" id="{30932C7D-9F8D-4BDB-93FC-C871FE2E3FC6}"/>
              </a:ext>
            </a:extLst>
          </p:cNvPr>
          <p:cNvSpPr>
            <a:spLocks xmlns:a="http://schemas.openxmlformats.org/drawingml/2006/main" noGrp="1"/>
          </p:cNvSpPr>
          <p:nvPr/>
        </p:nvSpPr>
        <p:spPr>
          <a:xfrm xmlns:a="http://schemas.openxmlformats.org/drawingml/2006/main">
            <a:off x="4714875" y="3867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75" b="0">
                <a:solidFill>
                  <a:srgbClr val="595959"/>
                </a:solidFill>
              </a:defRPr>
            </a:pPr>
            <a:r>
              <a:rPr sz="975" b="0">
                <a:solidFill>
                  <a:srgbClr val="595959"/>
                </a:solidFill>
              </a:rPr>
              <a:t>Posted age: 7 days</a:t>
            </a:r>
          </a:p>
        </p:txBody>
      </p:sp>
      <p:sp>
        <p:nvSpPr>
          <p:cNvPr id="29" name="prediction-result">
            <a:extLst xmlns:a="http://schemas.openxmlformats.org/drawingml/2006/main">
              <a:ext uri="{FF2B5EF4-FFF2-40B4-BE49-F238E27FC236}">
                <a16:creationId xmlns:a16="http://schemas.microsoft.com/office/drawing/2014/main" id="{C2D36BBB-0296-4FBA-93A9-5B2950405E6F}"/>
              </a:ext>
            </a:extLst>
          </p:cNvPr>
          <p:cNvSpPr>
            <a:spLocks xmlns:a="http://schemas.openxmlformats.org/drawingml/2006/main" noGrp="1"/>
          </p:cNvSpPr>
          <p:nvPr/>
        </p:nvSpPr>
        <p:spPr>
          <a:xfrm xmlns:a="http://schemas.openxmlformats.org/drawingml/2006/main">
            <a:off x="647700" y="4581525"/>
            <a:ext cx="5686425" cy="1009650"/>
          </a:xfrm>
          <a:prstGeom xmlns:a="http://schemas.openxmlformats.org/drawingml/2006/main" prst="roundRect">
            <a:avLst>
              <a:gd name="adj" fmla="val 11321"/>
            </a:avLst>
          </a:prstGeom>
          <a:solidFill xmlns:a="http://schemas.openxmlformats.org/drawingml/2006/main">
            <a:srgbClr val="202124"/>
          </a:solidFill>
          <a:ln xmlns:a="http://schemas.openxmlformats.org/drawingml/2006/main" w="0">
            <a:noFill/>
            <a:prstDash val="solid"/>
          </a:ln>
        </p:spPr>
      </p:sp>
      <p:sp>
        <p:nvSpPr>
          <p:cNvPr id="30" name="prediction-result-label">
            <a:extLst xmlns:a="http://schemas.openxmlformats.org/drawingml/2006/main">
              <a:ext uri="{FF2B5EF4-FFF2-40B4-BE49-F238E27FC236}">
                <a16:creationId xmlns:a16="http://schemas.microsoft.com/office/drawing/2014/main" id="{661A1A7D-6211-4F0A-AF24-F05F1212A40E}"/>
              </a:ext>
            </a:extLst>
          </p:cNvPr>
          <p:cNvSpPr>
            <a:spLocks xmlns:a="http://schemas.openxmlformats.org/drawingml/2006/main" noGrp="1"/>
          </p:cNvSpPr>
          <p:nvPr/>
        </p:nvSpPr>
        <p:spPr>
          <a:xfrm xmlns:a="http://schemas.openxmlformats.org/drawingml/2006/main">
            <a:off x="876300" y="4762500"/>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900" b="1">
                <a:solidFill>
                  <a:srgbClr val="BAC0C7"/>
                </a:solidFill>
              </a:defRPr>
            </a:pPr>
            <a:r>
              <a:rPr sz="900" b="1">
                <a:solidFill>
                  <a:srgbClr val="BAC0C7"/>
                </a:solidFill>
              </a:rPr>
              <a:t>MODEL POINT ESTIMATE</a:t>
            </a:r>
          </a:p>
        </p:txBody>
      </p:sp>
      <p:sp>
        <p:nvSpPr>
          <p:cNvPr id="31" name="prediction-result-value">
            <a:extLst xmlns:a="http://schemas.openxmlformats.org/drawingml/2006/main">
              <a:ext uri="{FF2B5EF4-FFF2-40B4-BE49-F238E27FC236}">
                <a16:creationId xmlns:a16="http://schemas.microsoft.com/office/drawing/2014/main" id="{4296ED13-01D6-4EE5-8DB7-565D12D9CBC6}"/>
              </a:ext>
            </a:extLst>
          </p:cNvPr>
          <p:cNvSpPr>
            <a:spLocks xmlns:a="http://schemas.openxmlformats.org/drawingml/2006/main" noGrp="1"/>
          </p:cNvSpPr>
          <p:nvPr/>
        </p:nvSpPr>
        <p:spPr>
          <a:xfrm xmlns:a="http://schemas.openxmlformats.org/drawingml/2006/main">
            <a:off x="876300" y="50101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2100" b="1">
                <a:solidFill>
                  <a:srgbClr val="FFFFFF"/>
                </a:solidFill>
              </a:defRPr>
            </a:pPr>
            <a:r>
              <a:rPr sz="2100" b="1">
                <a:solidFill>
                  <a:srgbClr val="FFFFFF"/>
                </a:solidFill>
              </a:rPr>
              <a:t>26,3M VND / tháng</a:t>
            </a:r>
          </a:p>
        </p:txBody>
      </p:sp>
      <p:sp>
        <p:nvSpPr>
          <p:cNvPr id="32" name="prediction-interval-label">
            <a:extLst xmlns:a="http://schemas.openxmlformats.org/drawingml/2006/main">
              <a:ext uri="{FF2B5EF4-FFF2-40B4-BE49-F238E27FC236}">
                <a16:creationId xmlns:a16="http://schemas.microsoft.com/office/drawing/2014/main" id="{063F7F6C-00C3-42EA-9001-963281A441C4}"/>
              </a:ext>
            </a:extLst>
          </p:cNvPr>
          <p:cNvSpPr>
            <a:spLocks xmlns:a="http://schemas.openxmlformats.org/drawingml/2006/main" noGrp="1"/>
          </p:cNvSpPr>
          <p:nvPr/>
        </p:nvSpPr>
        <p:spPr>
          <a:xfrm xmlns:a="http://schemas.openxmlformats.org/drawingml/2006/main">
            <a:off x="3676650" y="4762500"/>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900" b="1">
                <a:solidFill>
                  <a:srgbClr val="BAC0C7"/>
                </a:solidFill>
              </a:defRPr>
            </a:pPr>
            <a:r>
              <a:rPr sz="900" b="1">
                <a:solidFill>
                  <a:srgbClr val="BAC0C7"/>
                </a:solidFill>
              </a:rPr>
              <a:t>90% held-out error interval</a:t>
            </a:r>
          </a:p>
        </p:txBody>
      </p:sp>
      <p:sp>
        <p:nvSpPr>
          <p:cNvPr id="33" name="prediction-interval">
            <a:extLst xmlns:a="http://schemas.openxmlformats.org/drawingml/2006/main">
              <a:ext uri="{FF2B5EF4-FFF2-40B4-BE49-F238E27FC236}">
                <a16:creationId xmlns:a16="http://schemas.microsoft.com/office/drawing/2014/main" id="{4A5AB26F-C1DA-4AA8-81D7-269B533FFB74}"/>
              </a:ext>
            </a:extLst>
          </p:cNvPr>
          <p:cNvSpPr>
            <a:spLocks xmlns:a="http://schemas.openxmlformats.org/drawingml/2006/main" noGrp="1"/>
          </p:cNvSpPr>
          <p:nvPr/>
        </p:nvSpPr>
        <p:spPr>
          <a:xfrm xmlns:a="http://schemas.openxmlformats.org/drawingml/2006/main">
            <a:off x="3648075" y="5048250"/>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1575" b="1">
                <a:solidFill>
                  <a:srgbClr val="FF6B35"/>
                </a:solidFill>
              </a:defRPr>
            </a:pPr>
            <a:r>
              <a:rPr sz="1575" b="1">
                <a:solidFill>
                  <a:srgbClr val="FF6B35"/>
                </a:solidFill>
              </a:rPr>
              <a:t>12,8 — 53,9M</a:t>
            </a:r>
          </a:p>
        </p:txBody>
      </p:sp>
      <p:sp>
        <p:nvSpPr>
          <p:cNvPr id="34" name="demo-steps">
            <a:extLst xmlns:a="http://schemas.openxmlformats.org/drawingml/2006/main">
              <a:ext uri="{FF2B5EF4-FFF2-40B4-BE49-F238E27FC236}">
                <a16:creationId xmlns:a16="http://schemas.microsoft.com/office/drawing/2014/main" id="{8EE0CE44-63A7-431F-9E66-E9715B41348F}"/>
              </a:ext>
            </a:extLst>
          </p:cNvPr>
          <p:cNvSpPr>
            <a:spLocks xmlns:a="http://schemas.openxmlformats.org/drawingml/2006/main" noGrp="1"/>
          </p:cNvSpPr>
          <p:nvPr/>
        </p:nvSpPr>
        <p:spPr>
          <a:xfrm xmlns:a="http://schemas.openxmlformats.org/drawingml/2006/main">
            <a:off x="7239000" y="2047875"/>
            <a:ext cx="4171950" cy="2533650"/>
          </a:xfrm>
          <a:prstGeom xmlns:a="http://schemas.openxmlformats.org/drawingml/2006/main" prst="roundRect">
            <a:avLst>
              <a:gd name="adj" fmla="val 4511"/>
            </a:avLst>
          </a:prstGeom>
          <a:solidFill xmlns:a="http://schemas.openxmlformats.org/drawingml/2006/main">
            <a:srgbClr val="ECECEC"/>
          </a:solidFill>
          <a:ln xmlns:a="http://schemas.openxmlformats.org/drawingml/2006/main" w="9525">
            <a:solidFill>
              <a:srgbClr val="D7D9DD"/>
            </a:solidFill>
            <a:prstDash val="solid"/>
          </a:ln>
        </p:spPr>
      </p:sp>
      <p:sp>
        <p:nvSpPr>
          <p:cNvPr id="35" name="demo-steps-title">
            <a:extLst xmlns:a="http://schemas.openxmlformats.org/drawingml/2006/main">
              <a:ext uri="{FF2B5EF4-FFF2-40B4-BE49-F238E27FC236}">
                <a16:creationId xmlns:a16="http://schemas.microsoft.com/office/drawing/2014/main" id="{91585293-4A32-472B-A825-15FAA1516EA8}"/>
              </a:ext>
            </a:extLst>
          </p:cNvPr>
          <p:cNvSpPr>
            <a:spLocks xmlns:a="http://schemas.openxmlformats.org/drawingml/2006/main" noGrp="1"/>
          </p:cNvSpPr>
          <p:nvPr/>
        </p:nvSpPr>
        <p:spPr>
          <a:xfrm xmlns:a="http://schemas.openxmlformats.org/drawingml/2006/main">
            <a:off x="7505700" y="2333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875" b="1">
                <a:solidFill>
                  <a:srgbClr val="111111"/>
                </a:solidFill>
              </a:defRPr>
            </a:pPr>
            <a:r>
              <a:rPr sz="1875" b="1">
                <a:solidFill>
                  <a:srgbClr val="111111"/>
                </a:solidFill>
              </a:rPr>
              <a:t>Mạch demo 45 giây</a:t>
            </a:r>
          </a:p>
        </p:txBody>
      </p:sp>
      <p:sp>
        <p:nvSpPr>
          <p:cNvPr id="36" name="demo-step-1-no">
            <a:extLst xmlns:a="http://schemas.openxmlformats.org/drawingml/2006/main">
              <a:ext uri="{FF2B5EF4-FFF2-40B4-BE49-F238E27FC236}">
                <a16:creationId xmlns:a16="http://schemas.microsoft.com/office/drawing/2014/main" id="{27C131C0-EC9C-4C56-86D4-2BD9870C9245}"/>
              </a:ext>
            </a:extLst>
          </p:cNvPr>
          <p:cNvSpPr>
            <a:spLocks xmlns:a="http://schemas.openxmlformats.org/drawingml/2006/main" noGrp="1"/>
          </p:cNvSpPr>
          <p:nvPr/>
        </p:nvSpPr>
        <p:spPr>
          <a:xfrm xmlns:a="http://schemas.openxmlformats.org/drawingml/2006/main">
            <a:off x="7524750" y="286702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0000"/>
              </a:lnSpc>
              <a:buNone/>
              <a:defRPr sz="1500" b="1">
                <a:solidFill>
                  <a:srgbClr val="FF6B35"/>
                </a:solidFill>
              </a:defRPr>
            </a:pPr>
            <a:r>
              <a:rPr sz="1500" b="1">
                <a:solidFill>
                  <a:srgbClr val="FF6B35"/>
                </a:solidFill>
              </a:rPr>
              <a:t>1</a:t>
            </a:r>
          </a:p>
        </p:txBody>
      </p:sp>
      <p:sp>
        <p:nvSpPr>
          <p:cNvPr id="37" name="demo-step-1">
            <a:extLst xmlns:a="http://schemas.openxmlformats.org/drawingml/2006/main">
              <a:ext uri="{FF2B5EF4-FFF2-40B4-BE49-F238E27FC236}">
                <a16:creationId xmlns:a16="http://schemas.microsoft.com/office/drawing/2014/main" id="{06F4954C-93AF-421D-9209-17546D7DF1C1}"/>
              </a:ext>
            </a:extLst>
          </p:cNvPr>
          <p:cNvSpPr>
            <a:spLocks xmlns:a="http://schemas.openxmlformats.org/drawingml/2006/main" noGrp="1"/>
          </p:cNvSpPr>
          <p:nvPr/>
        </p:nvSpPr>
        <p:spPr>
          <a:xfrm xmlns:a="http://schemas.openxmlformats.org/drawingml/2006/main">
            <a:off x="7943850" y="2876550"/>
            <a:ext cx="2457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350" b="1">
                <a:solidFill>
                  <a:srgbClr val="111111"/>
                </a:solidFill>
              </a:defRPr>
            </a:pPr>
            <a:r>
              <a:rPr sz="1350" b="1">
                <a:solidFill>
                  <a:srgbClr val="111111"/>
                </a:solidFill>
              </a:rPr>
              <a:t>Mở tab Predict</a:t>
            </a:r>
          </a:p>
        </p:txBody>
      </p:sp>
      <p:sp>
        <p:nvSpPr>
          <p:cNvPr id="38" name="demo-step-2-no">
            <a:extLst xmlns:a="http://schemas.openxmlformats.org/drawingml/2006/main">
              <a:ext uri="{FF2B5EF4-FFF2-40B4-BE49-F238E27FC236}">
                <a16:creationId xmlns:a16="http://schemas.microsoft.com/office/drawing/2014/main" id="{FB9AF630-F1BA-4630-ADA3-A46DBF711E60}"/>
              </a:ext>
            </a:extLst>
          </p:cNvPr>
          <p:cNvSpPr>
            <a:spLocks xmlns:a="http://schemas.openxmlformats.org/drawingml/2006/main" noGrp="1"/>
          </p:cNvSpPr>
          <p:nvPr/>
        </p:nvSpPr>
        <p:spPr>
          <a:xfrm xmlns:a="http://schemas.openxmlformats.org/drawingml/2006/main">
            <a:off x="7524750" y="334327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0000"/>
              </a:lnSpc>
              <a:buNone/>
              <a:defRPr sz="1500" b="1">
                <a:solidFill>
                  <a:srgbClr val="FF6B35"/>
                </a:solidFill>
              </a:defRPr>
            </a:pPr>
            <a:r>
              <a:rPr sz="1500" b="1">
                <a:solidFill>
                  <a:srgbClr val="FF6B35"/>
                </a:solidFill>
              </a:rPr>
              <a:t>2</a:t>
            </a:r>
          </a:p>
        </p:txBody>
      </p:sp>
      <p:sp>
        <p:nvSpPr>
          <p:cNvPr id="39" name="demo-step-2">
            <a:extLst xmlns:a="http://schemas.openxmlformats.org/drawingml/2006/main">
              <a:ext uri="{FF2B5EF4-FFF2-40B4-BE49-F238E27FC236}">
                <a16:creationId xmlns:a16="http://schemas.microsoft.com/office/drawing/2014/main" id="{72564F53-8297-4D68-800D-EB13B6CC9A9D}"/>
              </a:ext>
            </a:extLst>
          </p:cNvPr>
          <p:cNvSpPr>
            <a:spLocks xmlns:a="http://schemas.openxmlformats.org/drawingml/2006/main" noGrp="1"/>
          </p:cNvSpPr>
          <p:nvPr/>
        </p:nvSpPr>
        <p:spPr>
          <a:xfrm xmlns:a="http://schemas.openxmlformats.org/drawingml/2006/main">
            <a:off x="7943850" y="33528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200" b="0">
                <a:solidFill>
                  <a:srgbClr val="595959"/>
                </a:solidFill>
              </a:defRPr>
            </a:pPr>
            <a:r>
              <a:rPr sz="1200" b="0">
                <a:solidFill>
                  <a:srgbClr val="595959"/>
                </a:solidFill>
              </a:rPr>
              <a:t>Chọn seniority, kỹ năng, kinh nghiệm</a:t>
            </a:r>
          </a:p>
        </p:txBody>
      </p:sp>
      <p:sp>
        <p:nvSpPr>
          <p:cNvPr id="40" name="demo-step-3-no">
            <a:extLst xmlns:a="http://schemas.openxmlformats.org/drawingml/2006/main">
              <a:ext uri="{FF2B5EF4-FFF2-40B4-BE49-F238E27FC236}">
                <a16:creationId xmlns:a16="http://schemas.microsoft.com/office/drawing/2014/main" id="{3FE207EB-9AE1-4319-ABBF-D88A9F19D62A}"/>
              </a:ext>
            </a:extLst>
          </p:cNvPr>
          <p:cNvSpPr>
            <a:spLocks xmlns:a="http://schemas.openxmlformats.org/drawingml/2006/main" noGrp="1"/>
          </p:cNvSpPr>
          <p:nvPr/>
        </p:nvSpPr>
        <p:spPr>
          <a:xfrm xmlns:a="http://schemas.openxmlformats.org/drawingml/2006/main">
            <a:off x="7524750" y="381952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0000"/>
              </a:lnSpc>
              <a:buNone/>
              <a:defRPr sz="1500" b="1">
                <a:solidFill>
                  <a:srgbClr val="FF6B35"/>
                </a:solidFill>
              </a:defRPr>
            </a:pPr>
            <a:r>
              <a:rPr sz="1500" b="1">
                <a:solidFill>
                  <a:srgbClr val="FF6B35"/>
                </a:solidFill>
              </a:rPr>
              <a:t>3</a:t>
            </a:r>
          </a:p>
        </p:txBody>
      </p:sp>
      <p:sp>
        <p:nvSpPr>
          <p:cNvPr id="41" name="demo-step-3">
            <a:extLst xmlns:a="http://schemas.openxmlformats.org/drawingml/2006/main">
              <a:ext uri="{FF2B5EF4-FFF2-40B4-BE49-F238E27FC236}">
                <a16:creationId xmlns:a16="http://schemas.microsoft.com/office/drawing/2014/main" id="{7AC6BB75-BB13-49DE-A4E2-DF0944793C6F}"/>
              </a:ext>
            </a:extLst>
          </p:cNvPr>
          <p:cNvSpPr>
            <a:spLocks xmlns:a="http://schemas.openxmlformats.org/drawingml/2006/main" noGrp="1"/>
          </p:cNvSpPr>
          <p:nvPr/>
        </p:nvSpPr>
        <p:spPr>
          <a:xfrm xmlns:a="http://schemas.openxmlformats.org/drawingml/2006/main">
            <a:off x="7943850" y="3829050"/>
            <a:ext cx="3086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200" b="0">
                <a:solidFill>
                  <a:srgbClr val="595959"/>
                </a:solidFill>
              </a:defRPr>
            </a:pPr>
            <a:r>
              <a:rPr sz="1200" b="0">
                <a:solidFill>
                  <a:srgbClr val="595959"/>
                </a:solidFill>
              </a:rPr>
              <a:t>Đọc estimate kèm khoảng sai số</a:t>
            </a:r>
          </a:p>
        </p:txBody>
      </p:sp>
      <p:sp>
        <p:nvSpPr>
          <p:cNvPr id="42" name="run-panel">
            <a:extLst xmlns:a="http://schemas.openxmlformats.org/drawingml/2006/main">
              <a:ext uri="{FF2B5EF4-FFF2-40B4-BE49-F238E27FC236}">
                <a16:creationId xmlns:a16="http://schemas.microsoft.com/office/drawing/2014/main" id="{09CAA73A-2035-4364-B08C-4BD1B81BD0DA}"/>
              </a:ext>
            </a:extLst>
          </p:cNvPr>
          <p:cNvSpPr>
            <a:spLocks xmlns:a="http://schemas.openxmlformats.org/drawingml/2006/main" noGrp="1"/>
          </p:cNvSpPr>
          <p:nvPr/>
        </p:nvSpPr>
        <p:spPr>
          <a:xfrm xmlns:a="http://schemas.openxmlformats.org/drawingml/2006/main">
            <a:off x="7239000" y="4810125"/>
            <a:ext cx="4171950" cy="781050"/>
          </a:xfrm>
          <a:prstGeom xmlns:a="http://schemas.openxmlformats.org/drawingml/2006/main" prst="roundRect">
            <a:avLst>
              <a:gd name="adj" fmla="val 14634"/>
            </a:avLst>
          </a:prstGeom>
          <a:solidFill xmlns:a="http://schemas.openxmlformats.org/drawingml/2006/main">
            <a:srgbClr val="202124"/>
          </a:solidFill>
          <a:ln xmlns:a="http://schemas.openxmlformats.org/drawingml/2006/main" w="0">
            <a:noFill/>
            <a:prstDash val="solid"/>
          </a:ln>
        </p:spPr>
      </p:sp>
      <p:sp>
        <p:nvSpPr>
          <p:cNvPr id="43" name="run-label">
            <a:extLst xmlns:a="http://schemas.openxmlformats.org/drawingml/2006/main">
              <a:ext uri="{FF2B5EF4-FFF2-40B4-BE49-F238E27FC236}">
                <a16:creationId xmlns:a16="http://schemas.microsoft.com/office/drawing/2014/main" id="{E46224FA-99AA-438A-AA78-042155C8BC07}"/>
              </a:ext>
            </a:extLst>
          </p:cNvPr>
          <p:cNvSpPr>
            <a:spLocks xmlns:a="http://schemas.openxmlformats.org/drawingml/2006/main" noGrp="1"/>
          </p:cNvSpPr>
          <p:nvPr/>
        </p:nvSpPr>
        <p:spPr>
          <a:xfrm xmlns:a="http://schemas.openxmlformats.org/drawingml/2006/main">
            <a:off x="7486650" y="4953000"/>
            <a:ext cx="3333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825" b="1">
                <a:solidFill>
                  <a:srgbClr val="FF6B35"/>
                </a:solidFill>
              </a:defRPr>
            </a:pPr>
            <a:r>
              <a:rPr sz="825" b="1">
                <a:solidFill>
                  <a:srgbClr val="FF6B35"/>
                </a:solidFill>
              </a:rPr>
              <a:t>CHẠY LIVE TRƯỚC KHI THUYẾT TRÌNH</a:t>
            </a:r>
          </a:p>
        </p:txBody>
      </p:sp>
      <p:sp>
        <p:nvSpPr>
          <p:cNvPr id="44" name="run-command">
            <a:extLst xmlns:a="http://schemas.openxmlformats.org/drawingml/2006/main">
              <a:ext uri="{FF2B5EF4-FFF2-40B4-BE49-F238E27FC236}">
                <a16:creationId xmlns:a16="http://schemas.microsoft.com/office/drawing/2014/main" id="{43B0D4C3-969F-4A56-8F37-70F00BCFE0E2}"/>
              </a:ext>
            </a:extLst>
          </p:cNvPr>
          <p:cNvSpPr>
            <a:spLocks xmlns:a="http://schemas.openxmlformats.org/drawingml/2006/main" noGrp="1"/>
          </p:cNvSpPr>
          <p:nvPr/>
        </p:nvSpPr>
        <p:spPr>
          <a:xfrm xmlns:a="http://schemas.openxmlformats.org/drawingml/2006/main">
            <a:off x="7486650" y="5200650"/>
            <a:ext cx="3667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825" b="0">
                <a:solidFill>
                  <a:srgbClr val="FFFFFF"/>
                </a:solidFill>
              </a:defRPr>
            </a:pPr>
            <a:r>
              <a:rPr sz="825" b="0">
                <a:solidFill>
                  <a:srgbClr val="FFFFFF"/>
                </a:solidFill>
              </a:rPr>
              <a:t>streamlit run streamlit_salary_regression_opencode.py</a:t>
            </a:r>
          </a:p>
        </p:txBody>
      </p:sp>
      <p:sp>
        <p:nvSpPr>
          <p:cNvPr id="45" name="caution">
            <a:extLst xmlns:a="http://schemas.openxmlformats.org/drawingml/2006/main">
              <a:ext uri="{FF2B5EF4-FFF2-40B4-BE49-F238E27FC236}">
                <a16:creationId xmlns:a16="http://schemas.microsoft.com/office/drawing/2014/main" id="{74411041-622E-4A13-A9DA-1B5567B55835}"/>
              </a:ext>
            </a:extLst>
          </p:cNvPr>
          <p:cNvSpPr>
            <a:spLocks xmlns:a="http://schemas.openxmlformats.org/drawingml/2006/main" noGrp="1"/>
          </p:cNvSpPr>
          <p:nvPr/>
        </p:nvSpPr>
        <p:spPr>
          <a:xfrm xmlns:a="http://schemas.openxmlformats.org/drawingml/2006/main">
            <a:off x="7239000" y="5772150"/>
            <a:ext cx="417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0000"/>
              </a:lnSpc>
              <a:buNone/>
              <a:defRPr sz="1050" b="1">
                <a:solidFill>
                  <a:srgbClr val="FF6B35"/>
                </a:solidFill>
              </a:defRPr>
            </a:pPr>
            <a:r>
              <a:rPr sz="1050" b="1">
                <a:solidFill>
                  <a:srgbClr val="FF6B35"/>
                </a:solidFill>
              </a:rPr>
              <a:t>Estimate từ snapshot dữ liệu — không dùng làm mức offer.</a:t>
            </a:r>
          </a:p>
        </p:txBody>
      </p:sp>
      <p:sp>
        <p:nvSpPr>
          <p:cNvPr id="46" name="footer-rule">
            <a:extLst xmlns:a="http://schemas.openxmlformats.org/drawingml/2006/main">
              <a:ext uri="{FF2B5EF4-FFF2-40B4-BE49-F238E27FC236}">
                <a16:creationId xmlns:a16="http://schemas.microsoft.com/office/drawing/2014/main" id="{4CB428BF-6E39-4A5F-A823-ECCC3C540199}"/>
              </a:ext>
            </a:extLst>
          </p:cNvPr>
          <p:cNvSpPr>
            <a:spLocks xmlns:a="http://schemas.openxmlformats.org/drawingml/2006/main" noGrp="1"/>
          </p:cNvSpPr>
          <p:nvPr/>
        </p:nvSpPr>
        <p:spPr>
          <a:xfrm xmlns:a="http://schemas.openxmlformats.org/drawingml/2006/main">
            <a:off x="400050" y="6362700"/>
            <a:ext cx="11010900" cy="19050"/>
          </a:xfrm>
          <a:prstGeom xmlns:a="http://schemas.openxmlformats.org/drawingml/2006/main" prst="rect">
            <a:avLst/>
          </a:prstGeom>
          <a:solidFill xmlns:a="http://schemas.openxmlformats.org/drawingml/2006/main">
            <a:srgbClr val="CDD1D6"/>
          </a:solidFill>
          <a:ln xmlns:a="http://schemas.openxmlformats.org/drawingml/2006/main" w="0">
            <a:noFill/>
            <a:prstDash val="solid"/>
          </a:ln>
        </p:spPr>
      </p:sp>
      <p:sp>
        <p:nvSpPr>
          <p:cNvPr id="47" name="source">
            <a:extLst xmlns:a="http://schemas.openxmlformats.org/drawingml/2006/main">
              <a:ext uri="{FF2B5EF4-FFF2-40B4-BE49-F238E27FC236}">
                <a16:creationId xmlns:a16="http://schemas.microsoft.com/office/drawing/2014/main" id="{B5D91ED2-82CB-4691-BB50-987828F73BAA}"/>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825" b="0">
                <a:solidFill>
                  <a:srgbClr val="595959"/>
                </a:solidFill>
              </a:defRPr>
            </a:pPr>
            <a:r>
              <a:rPr sz="825" b="0">
                <a:solidFill>
                  <a:srgbClr val="595959"/>
                </a:solidFill>
              </a:rPr>
              <a:t>Nguồn: streamlit_salary_regression_opencode.py • safe_baseline/model.joblib</a:t>
            </a:r>
          </a:p>
        </p:txBody>
      </p:sp>
      <p:sp>
        <p:nvSpPr>
          <p:cNvPr id="48" name="slide-number">
            <a:extLst xmlns:a="http://schemas.openxmlformats.org/drawingml/2006/main">
              <a:ext uri="{FF2B5EF4-FFF2-40B4-BE49-F238E27FC236}">
                <a16:creationId xmlns:a16="http://schemas.microsoft.com/office/drawing/2014/main" id="{69B7EABA-21A2-42FB-A597-D5AE694A6EFC}"/>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1050" b="1">
                <a:solidFill>
                  <a:srgbClr val="595959"/>
                </a:solidFill>
              </a:defRPr>
            </a:pPr>
            <a:r>
              <a:rPr sz="1050" b="1">
                <a:solidFill>
                  <a:srgbClr val="595959"/>
                </a:solidFill>
              </a:rPr>
              <a:t>08</a:t>
            </a:r>
          </a:p>
        </p:txBody>
      </p:sp>
    </p:spTree>
    <p:extLst>
      <p:ext uri="{BB962C8B-B14F-4D97-AF65-F5344CB8AC3E}">
        <p14:creationId xmlns:p14="http://schemas.microsoft.com/office/powerpoint/2010/main" val="5158053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F5A1B60B-A838-4B46-AFED-2D013BA7B89C}"/>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07 — SAI LẦM VÀ BÀI HỌC</a:t>
            </a:r>
          </a:p>
        </p:txBody>
      </p:sp>
      <p:sp>
        <p:nvSpPr>
          <p:cNvPr id="2" name="title">
            <a:extLst xmlns:a="http://schemas.openxmlformats.org/drawingml/2006/main">
              <a:ext uri="{FF2B5EF4-FFF2-40B4-BE49-F238E27FC236}">
                <a16:creationId xmlns:a16="http://schemas.microsoft.com/office/drawing/2014/main" id="{612A22AA-200C-4F44-9938-FAB069C27C83}"/>
              </a:ext>
            </a:extLst>
          </p:cNvPr>
          <p:cNvSpPr>
            <a:spLocks xmlns:a="http://schemas.openxmlformats.org/drawingml/2006/main" noGrp="1"/>
          </p:cNvSpPr>
          <p:nvPr/>
        </p:nvSpPr>
        <p:spPr>
          <a:xfrm xmlns:a="http://schemas.openxmlformats.org/drawingml/2006/main">
            <a:off x="400050" y="7810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300" b="1">
                <a:solidFill>
                  <a:srgbClr val="111111"/>
                </a:solidFill>
              </a:defRPr>
            </a:pPr>
            <a:r>
              <a:rPr sz="3300" b="1">
                <a:solidFill>
                  <a:srgbClr val="111111"/>
                </a:solidFill>
              </a:rPr>
              <a:t>Sai lầm dữ liệu là phần quan trọng nhất</a:t>
            </a:r>
          </a:p>
        </p:txBody>
      </p:sp>
      <p:sp>
        <p:nvSpPr>
          <p:cNvPr id="3" name="subtitle">
            <a:extLst xmlns:a="http://schemas.openxmlformats.org/drawingml/2006/main">
              <a:ext uri="{FF2B5EF4-FFF2-40B4-BE49-F238E27FC236}">
                <a16:creationId xmlns:a16="http://schemas.microsoft.com/office/drawing/2014/main" id="{F757D707-D8E2-40D4-A731-8202F68186DA}"/>
              </a:ext>
            </a:extLst>
          </p:cNvPr>
          <p:cNvSpPr>
            <a:spLocks xmlns:a="http://schemas.openxmlformats.org/drawingml/2006/main" noGrp="1"/>
          </p:cNvSpPr>
          <p:nvPr/>
        </p:nvSpPr>
        <p:spPr>
          <a:xfrm xmlns:a="http://schemas.openxmlformats.org/drawingml/2006/main">
            <a:off x="400050" y="1476375"/>
            <a:ext cx="828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595959"/>
                </a:solidFill>
              </a:defRPr>
            </a:pPr>
            <a:r>
              <a:rPr sz="1575">
                <a:solidFill>
                  <a:srgbClr val="595959"/>
                </a:solidFill>
              </a:rPr>
              <a:t>Các vấn đề dưới đây quyết định trực tiếp phần nào được phép kết luận.</a:t>
            </a:r>
          </a:p>
        </p:txBody>
      </p:sp>
      <p:sp>
        <p:nvSpPr>
          <p:cNvPr id="4" name="issue-panel">
            <a:extLst xmlns:a="http://schemas.openxmlformats.org/drawingml/2006/main">
              <a:ext uri="{FF2B5EF4-FFF2-40B4-BE49-F238E27FC236}">
                <a16:creationId xmlns:a16="http://schemas.microsoft.com/office/drawing/2014/main" id="{890F0E11-24B4-41AC-8408-2532DB719DFB}"/>
              </a:ext>
            </a:extLst>
          </p:cNvPr>
          <p:cNvSpPr>
            <a:spLocks xmlns:a="http://schemas.openxmlformats.org/drawingml/2006/main" noGrp="1"/>
          </p:cNvSpPr>
          <p:nvPr/>
        </p:nvSpPr>
        <p:spPr>
          <a:xfrm xmlns:a="http://schemas.openxmlformats.org/drawingml/2006/main">
            <a:off x="400050" y="2266950"/>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5" name="issue-number">
            <a:extLst xmlns:a="http://schemas.openxmlformats.org/drawingml/2006/main">
              <a:ext uri="{FF2B5EF4-FFF2-40B4-BE49-F238E27FC236}">
                <a16:creationId xmlns:a16="http://schemas.microsoft.com/office/drawing/2014/main" id="{878F6BED-4B0E-4EB2-8C0C-D30CE5916DAB}"/>
              </a:ext>
            </a:extLst>
          </p:cNvPr>
          <p:cNvSpPr>
            <a:spLocks xmlns:a="http://schemas.openxmlformats.org/drawingml/2006/main" noGrp="1"/>
          </p:cNvSpPr>
          <p:nvPr/>
        </p:nvSpPr>
        <p:spPr>
          <a:xfrm xmlns:a="http://schemas.openxmlformats.org/drawingml/2006/main">
            <a:off x="628650" y="24574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01</a:t>
            </a:r>
          </a:p>
        </p:txBody>
      </p:sp>
      <p:sp>
        <p:nvSpPr>
          <p:cNvPr id="6" name="issue-title">
            <a:extLst xmlns:a="http://schemas.openxmlformats.org/drawingml/2006/main">
              <a:ext uri="{FF2B5EF4-FFF2-40B4-BE49-F238E27FC236}">
                <a16:creationId xmlns:a16="http://schemas.microsoft.com/office/drawing/2014/main" id="{173D5F65-0C5A-4344-AB8C-02ED5727E289}"/>
              </a:ext>
            </a:extLst>
          </p:cNvPr>
          <p:cNvSpPr>
            <a:spLocks xmlns:a="http://schemas.openxmlformats.org/drawingml/2006/main" noGrp="1"/>
          </p:cNvSpPr>
          <p:nvPr/>
        </p:nvSpPr>
        <p:spPr>
          <a:xfrm xmlns:a="http://schemas.openxmlformats.org/drawingml/2006/main">
            <a:off x="1219200" y="24384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111111"/>
                </a:solidFill>
              </a:defRPr>
            </a:pPr>
            <a:r>
              <a:rPr sz="1725" b="1">
                <a:solidFill>
                  <a:srgbClr val="111111"/>
                </a:solidFill>
              </a:rPr>
              <a:t>Thiếu chuỗi thời gian</a:t>
            </a:r>
          </a:p>
        </p:txBody>
      </p:sp>
      <p:sp>
        <p:nvSpPr>
          <p:cNvPr id="7" name="issue-body">
            <a:extLst xmlns:a="http://schemas.openxmlformats.org/drawingml/2006/main">
              <a:ext uri="{FF2B5EF4-FFF2-40B4-BE49-F238E27FC236}">
                <a16:creationId xmlns:a16="http://schemas.microsoft.com/office/drawing/2014/main" id="{2E0949EE-4EAC-4B82-BBA8-34682003A4EE}"/>
              </a:ext>
            </a:extLst>
          </p:cNvPr>
          <p:cNvSpPr>
            <a:spLocks xmlns:a="http://schemas.openxmlformats.org/drawingml/2006/main" noGrp="1"/>
          </p:cNvSpPr>
          <p:nvPr/>
        </p:nvSpPr>
        <p:spPr>
          <a:xfrm xmlns:a="http://schemas.openxmlformats.org/drawingml/2006/main">
            <a:off x="1219200" y="2905125"/>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Crawl trong ba ngày không đủ để fit hoặc đánh giá forecast nhu cầu tuyển dụng.</a:t>
            </a:r>
          </a:p>
        </p:txBody>
      </p:sp>
      <p:sp>
        <p:nvSpPr>
          <p:cNvPr id="8" name="issue-panel">
            <a:extLst xmlns:a="http://schemas.openxmlformats.org/drawingml/2006/main">
              <a:ext uri="{FF2B5EF4-FFF2-40B4-BE49-F238E27FC236}">
                <a16:creationId xmlns:a16="http://schemas.microsoft.com/office/drawing/2014/main" id="{341AB327-9A66-4534-9AAB-4AE8A3B789EB}"/>
              </a:ext>
            </a:extLst>
          </p:cNvPr>
          <p:cNvSpPr>
            <a:spLocks xmlns:a="http://schemas.openxmlformats.org/drawingml/2006/main" noGrp="1"/>
          </p:cNvSpPr>
          <p:nvPr/>
        </p:nvSpPr>
        <p:spPr>
          <a:xfrm xmlns:a="http://schemas.openxmlformats.org/drawingml/2006/main">
            <a:off x="5886450" y="2266950"/>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9" name="issue-number">
            <a:extLst xmlns:a="http://schemas.openxmlformats.org/drawingml/2006/main">
              <a:ext uri="{FF2B5EF4-FFF2-40B4-BE49-F238E27FC236}">
                <a16:creationId xmlns:a16="http://schemas.microsoft.com/office/drawing/2014/main" id="{2F8A4C79-79BA-4E07-A91A-9088D417F238}"/>
              </a:ext>
            </a:extLst>
          </p:cNvPr>
          <p:cNvSpPr>
            <a:spLocks xmlns:a="http://schemas.openxmlformats.org/drawingml/2006/main" noGrp="1"/>
          </p:cNvSpPr>
          <p:nvPr/>
        </p:nvSpPr>
        <p:spPr>
          <a:xfrm xmlns:a="http://schemas.openxmlformats.org/drawingml/2006/main">
            <a:off x="6115050" y="24574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02</a:t>
            </a:r>
          </a:p>
        </p:txBody>
      </p:sp>
      <p:sp>
        <p:nvSpPr>
          <p:cNvPr id="10" name="issue-title">
            <a:extLst xmlns:a="http://schemas.openxmlformats.org/drawingml/2006/main">
              <a:ext uri="{FF2B5EF4-FFF2-40B4-BE49-F238E27FC236}">
                <a16:creationId xmlns:a16="http://schemas.microsoft.com/office/drawing/2014/main" id="{0AF5BE18-6301-4B2C-9AE9-597480157862}"/>
              </a:ext>
            </a:extLst>
          </p:cNvPr>
          <p:cNvSpPr>
            <a:spLocks xmlns:a="http://schemas.openxmlformats.org/drawingml/2006/main" noGrp="1"/>
          </p:cNvSpPr>
          <p:nvPr/>
        </p:nvSpPr>
        <p:spPr>
          <a:xfrm xmlns:a="http://schemas.openxmlformats.org/drawingml/2006/main">
            <a:off x="6705600" y="24384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111111"/>
                </a:solidFill>
              </a:defRPr>
            </a:pPr>
            <a:r>
              <a:rPr sz="1725" b="1">
                <a:solidFill>
                  <a:srgbClr val="111111"/>
                </a:solidFill>
              </a:rPr>
              <a:t>Missingness có thiên lệch</a:t>
            </a:r>
          </a:p>
        </p:txBody>
      </p:sp>
      <p:sp>
        <p:nvSpPr>
          <p:cNvPr id="11" name="issue-body">
            <a:extLst xmlns:a="http://schemas.openxmlformats.org/drawingml/2006/main">
              <a:ext uri="{FF2B5EF4-FFF2-40B4-BE49-F238E27FC236}">
                <a16:creationId xmlns:a16="http://schemas.microsoft.com/office/drawing/2014/main" id="{ACD22D88-8C28-4F96-98EA-11C1A49B6A2C}"/>
              </a:ext>
            </a:extLst>
          </p:cNvPr>
          <p:cNvSpPr>
            <a:spLocks xmlns:a="http://schemas.openxmlformats.org/drawingml/2006/main" noGrp="1"/>
          </p:cNvSpPr>
          <p:nvPr/>
        </p:nvSpPr>
        <p:spPr>
          <a:xfrm xmlns:a="http://schemas.openxmlformats.org/drawingml/2006/main">
            <a:off x="6705600" y="2905125"/>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Chỉ 35,2% tin có lương số; TopDev là 0%, nên model không đại diện mọi nguồn.</a:t>
            </a:r>
          </a:p>
        </p:txBody>
      </p:sp>
      <p:sp>
        <p:nvSpPr>
          <p:cNvPr id="12" name="issue-panel">
            <a:extLst xmlns:a="http://schemas.openxmlformats.org/drawingml/2006/main">
              <a:ext uri="{FF2B5EF4-FFF2-40B4-BE49-F238E27FC236}">
                <a16:creationId xmlns:a16="http://schemas.microsoft.com/office/drawing/2014/main" id="{387BE804-AA11-4F7F-89B1-25A9D55C6C27}"/>
              </a:ext>
            </a:extLst>
          </p:cNvPr>
          <p:cNvSpPr>
            <a:spLocks xmlns:a="http://schemas.openxmlformats.org/drawingml/2006/main" noGrp="1"/>
          </p:cNvSpPr>
          <p:nvPr/>
        </p:nvSpPr>
        <p:spPr>
          <a:xfrm xmlns:a="http://schemas.openxmlformats.org/drawingml/2006/main">
            <a:off x="400050" y="4124325"/>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13" name="issue-number">
            <a:extLst xmlns:a="http://schemas.openxmlformats.org/drawingml/2006/main">
              <a:ext uri="{FF2B5EF4-FFF2-40B4-BE49-F238E27FC236}">
                <a16:creationId xmlns:a16="http://schemas.microsoft.com/office/drawing/2014/main" id="{7BCAA526-1617-45A1-A618-E05F9A0DE063}"/>
              </a:ext>
            </a:extLst>
          </p:cNvPr>
          <p:cNvSpPr>
            <a:spLocks xmlns:a="http://schemas.openxmlformats.org/drawingml/2006/main" noGrp="1"/>
          </p:cNvSpPr>
          <p:nvPr/>
        </p:nvSpPr>
        <p:spPr>
          <a:xfrm xmlns:a="http://schemas.openxmlformats.org/drawingml/2006/main">
            <a:off x="628650" y="43148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03</a:t>
            </a:r>
          </a:p>
        </p:txBody>
      </p:sp>
      <p:sp>
        <p:nvSpPr>
          <p:cNvPr id="14" name="issue-title">
            <a:extLst xmlns:a="http://schemas.openxmlformats.org/drawingml/2006/main">
              <a:ext uri="{FF2B5EF4-FFF2-40B4-BE49-F238E27FC236}">
                <a16:creationId xmlns:a16="http://schemas.microsoft.com/office/drawing/2014/main" id="{493B5FAF-B920-4D07-889B-8474ADBE7443}"/>
              </a:ext>
            </a:extLst>
          </p:cNvPr>
          <p:cNvSpPr>
            <a:spLocks xmlns:a="http://schemas.openxmlformats.org/drawingml/2006/main" noGrp="1"/>
          </p:cNvSpPr>
          <p:nvPr/>
        </p:nvSpPr>
        <p:spPr>
          <a:xfrm xmlns:a="http://schemas.openxmlformats.org/drawingml/2006/main">
            <a:off x="1219200" y="4295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111111"/>
                </a:solidFill>
              </a:defRPr>
            </a:pPr>
            <a:r>
              <a:rPr sz="1725" b="1">
                <a:solidFill>
                  <a:srgbClr val="111111"/>
                </a:solidFill>
              </a:rPr>
              <a:t>Parser salary_period sai</a:t>
            </a:r>
          </a:p>
        </p:txBody>
      </p:sp>
      <p:sp>
        <p:nvSpPr>
          <p:cNvPr id="15" name="issue-body">
            <a:extLst xmlns:a="http://schemas.openxmlformats.org/drawingml/2006/main">
              <a:ext uri="{FF2B5EF4-FFF2-40B4-BE49-F238E27FC236}">
                <a16:creationId xmlns:a16="http://schemas.microsoft.com/office/drawing/2014/main" id="{24988E78-DC7E-40BC-800E-22BA518DE44B}"/>
              </a:ext>
            </a:extLst>
          </p:cNvPr>
          <p:cNvSpPr>
            <a:spLocks xmlns:a="http://schemas.openxmlformats.org/drawingml/2006/main" noGrp="1"/>
          </p:cNvSpPr>
          <p:nvPr/>
        </p:nvSpPr>
        <p:spPr>
          <a:xfrm xmlns:a="http://schemas.openxmlformats.org/drawingml/2006/main">
            <a:off x="1219200" y="4762500"/>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101 dòng đọc “năm/year” từ mô tả kinh nghiệm; baseline phải sửa tạm về monthly.</a:t>
            </a:r>
          </a:p>
        </p:txBody>
      </p:sp>
      <p:sp>
        <p:nvSpPr>
          <p:cNvPr id="16" name="issue-panel">
            <a:extLst xmlns:a="http://schemas.openxmlformats.org/drawingml/2006/main">
              <a:ext uri="{FF2B5EF4-FFF2-40B4-BE49-F238E27FC236}">
                <a16:creationId xmlns:a16="http://schemas.microsoft.com/office/drawing/2014/main" id="{BA200BA0-FB47-449A-AA89-D5694B6467BD}"/>
              </a:ext>
            </a:extLst>
          </p:cNvPr>
          <p:cNvSpPr>
            <a:spLocks xmlns:a="http://schemas.openxmlformats.org/drawingml/2006/main" noGrp="1"/>
          </p:cNvSpPr>
          <p:nvPr/>
        </p:nvSpPr>
        <p:spPr>
          <a:xfrm xmlns:a="http://schemas.openxmlformats.org/drawingml/2006/main">
            <a:off x="5886450" y="4124325"/>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17" name="issue-number">
            <a:extLst xmlns:a="http://schemas.openxmlformats.org/drawingml/2006/main">
              <a:ext uri="{FF2B5EF4-FFF2-40B4-BE49-F238E27FC236}">
                <a16:creationId xmlns:a16="http://schemas.microsoft.com/office/drawing/2014/main" id="{C2090E0D-7E40-4EB8-84AB-EE433B9FCAF9}"/>
              </a:ext>
            </a:extLst>
          </p:cNvPr>
          <p:cNvSpPr>
            <a:spLocks xmlns:a="http://schemas.openxmlformats.org/drawingml/2006/main" noGrp="1"/>
          </p:cNvSpPr>
          <p:nvPr/>
        </p:nvSpPr>
        <p:spPr>
          <a:xfrm xmlns:a="http://schemas.openxmlformats.org/drawingml/2006/main">
            <a:off x="6115050" y="43148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FF6B35"/>
                </a:solidFill>
              </a:defRPr>
            </a:pPr>
            <a:r>
              <a:rPr sz="1200" b="1">
                <a:solidFill>
                  <a:srgbClr val="FF6B35"/>
                </a:solidFill>
              </a:rPr>
              <a:t>04</a:t>
            </a:r>
          </a:p>
        </p:txBody>
      </p:sp>
      <p:sp>
        <p:nvSpPr>
          <p:cNvPr id="18" name="issue-title">
            <a:extLst xmlns:a="http://schemas.openxmlformats.org/drawingml/2006/main">
              <a:ext uri="{FF2B5EF4-FFF2-40B4-BE49-F238E27FC236}">
                <a16:creationId xmlns:a16="http://schemas.microsoft.com/office/drawing/2014/main" id="{D4988C06-AF32-44C9-956C-D3770C66647C}"/>
              </a:ext>
            </a:extLst>
          </p:cNvPr>
          <p:cNvSpPr>
            <a:spLocks xmlns:a="http://schemas.openxmlformats.org/drawingml/2006/main" noGrp="1"/>
          </p:cNvSpPr>
          <p:nvPr/>
        </p:nvSpPr>
        <p:spPr>
          <a:xfrm xmlns:a="http://schemas.openxmlformats.org/drawingml/2006/main">
            <a:off x="6705600" y="4295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111111"/>
                </a:solidFill>
              </a:defRPr>
            </a:pPr>
            <a:r>
              <a:rPr sz="1725" b="1">
                <a:solidFill>
                  <a:srgbClr val="111111"/>
                </a:solidFill>
              </a:rPr>
              <a:t>Địa điểm bị nhiễu</a:t>
            </a:r>
          </a:p>
        </p:txBody>
      </p:sp>
      <p:sp>
        <p:nvSpPr>
          <p:cNvPr id="19" name="issue-body">
            <a:extLst xmlns:a="http://schemas.openxmlformats.org/drawingml/2006/main">
              <a:ext uri="{FF2B5EF4-FFF2-40B4-BE49-F238E27FC236}">
                <a16:creationId xmlns:a16="http://schemas.microsoft.com/office/drawing/2014/main" id="{D1007E0E-E0F6-4C78-8C33-5B2E00F6944F}"/>
              </a:ext>
            </a:extLst>
          </p:cNvPr>
          <p:cNvSpPr>
            <a:spLocks xmlns:a="http://schemas.openxmlformats.org/drawingml/2006/main" noGrp="1"/>
          </p:cNvSpPr>
          <p:nvPr/>
        </p:nvSpPr>
        <p:spPr>
          <a:xfrm xmlns:a="http://schemas.openxmlformats.org/drawingml/2006/main">
            <a:off x="6705600" y="4762500"/>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5959"/>
                </a:solidFill>
              </a:defRPr>
            </a:pPr>
            <a:r>
              <a:rPr sz="1275">
                <a:solidFill>
                  <a:srgbClr val="595959"/>
                </a:solidFill>
              </a:rPr>
              <a:t>location_cities quét cả visible text/description, khiến Hà Nội, HCM và Đà Nẵng cùng xuất hiện ở mọi tin.</a:t>
            </a:r>
          </a:p>
        </p:txBody>
      </p:sp>
      <p:sp>
        <p:nvSpPr>
          <p:cNvPr id="20" name="rule">
            <a:extLst xmlns:a="http://schemas.openxmlformats.org/drawingml/2006/main">
              <a:ext uri="{FF2B5EF4-FFF2-40B4-BE49-F238E27FC236}">
                <a16:creationId xmlns:a16="http://schemas.microsoft.com/office/drawing/2014/main" id="{3BC894F3-E173-4A4E-A962-B924155881E7}"/>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21" name="source">
            <a:extLst xmlns:a="http://schemas.openxmlformats.org/drawingml/2006/main">
              <a:ext uri="{FF2B5EF4-FFF2-40B4-BE49-F238E27FC236}">
                <a16:creationId xmlns:a16="http://schemas.microsoft.com/office/drawing/2014/main" id="{BABAC858-5959-44AB-9CEC-073BAFBA29D8}"/>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parsers/common.py • data/modeling/.../data_audit.csv • data/analysis/job_cities.csv</a:t>
            </a:r>
          </a:p>
        </p:txBody>
      </p:sp>
      <p:sp>
        <p:nvSpPr>
          <p:cNvPr id="22" name="slide-number">
            <a:extLst xmlns:a="http://schemas.openxmlformats.org/drawingml/2006/main">
              <a:ext uri="{FF2B5EF4-FFF2-40B4-BE49-F238E27FC236}">
                <a16:creationId xmlns:a16="http://schemas.microsoft.com/office/drawing/2014/main" id="{471C2D2A-4915-4BC7-ADE0-F5AD2F013EE1}"/>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08</a:t>
            </a:r>
          </a:p>
        </p:txBody>
      </p:sp>
      <p:sp>
        <p:nvSpPr>
          <p:cNvPr id="23" name="eyebrow-cover-8">
            <a:extLst xmlns:a="http://schemas.openxmlformats.org/drawingml/2006/main">
              <a:ext uri="{FF2B5EF4-FFF2-40B4-BE49-F238E27FC236}">
                <a16:creationId xmlns:a16="http://schemas.microsoft.com/office/drawing/2014/main" id="{72730A2A-F8A2-4BBE-AE45-F23AEF63041E}"/>
              </a:ext>
            </a:extLst>
          </p:cNvPr>
          <p:cNvSpPr>
            <a:spLocks xmlns:a="http://schemas.openxmlformats.org/drawingml/2006/main" noGrp="1"/>
          </p:cNvSpPr>
          <p:nvPr/>
        </p:nvSpPr>
        <p:spPr>
          <a:xfrm xmlns:a="http://schemas.openxmlformats.org/drawingml/2006/main">
            <a:off x="400050" y="314325"/>
            <a:ext cx="3524250" cy="32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eyebrow-label-8">
            <a:extLst xmlns:a="http://schemas.openxmlformats.org/drawingml/2006/main">
              <a:ext uri="{FF2B5EF4-FFF2-40B4-BE49-F238E27FC236}">
                <a16:creationId xmlns:a16="http://schemas.microsoft.com/office/drawing/2014/main" id="{3CFE72B1-F488-49C1-B291-A2E82C1FBE5E}"/>
              </a:ext>
            </a:extLst>
          </p:cNvPr>
          <p:cNvSpPr>
            <a:spLocks xmlns:a="http://schemas.openxmlformats.org/drawingml/2006/main" noGrp="1"/>
          </p:cNvSpPr>
          <p:nvPr/>
        </p:nvSpPr>
        <p:spPr>
          <a:xfrm xmlns:a="http://schemas.openxmlformats.org/drawingml/2006/main">
            <a:off x="400050" y="371475"/>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050" b="1">
                <a:solidFill>
                  <a:srgbClr val="595959"/>
                </a:solidFill>
              </a:defRPr>
            </a:pPr>
            <a:r>
              <a:rPr sz="1050" b="1">
                <a:solidFill>
                  <a:srgbClr val="595959"/>
                </a:solidFill>
              </a:rPr>
              <a:t>08 — SAI LẦM VÀ BÀI HỌC</a:t>
            </a:r>
          </a:p>
        </p:txBody>
      </p:sp>
      <p:sp>
        <p:nvSpPr>
          <p:cNvPr id="25" name="page-cover-8">
            <a:extLst xmlns:a="http://schemas.openxmlformats.org/drawingml/2006/main">
              <a:ext uri="{FF2B5EF4-FFF2-40B4-BE49-F238E27FC236}">
                <a16:creationId xmlns:a16="http://schemas.microsoft.com/office/drawing/2014/main" id="{AE40A397-51B9-42C5-AD7E-F18F46486B57}"/>
              </a:ext>
            </a:extLst>
          </p:cNvPr>
          <p:cNvSpPr>
            <a:spLocks xmlns:a="http://schemas.openxmlformats.org/drawingml/2006/main" noGrp="1"/>
          </p:cNvSpPr>
          <p:nvPr/>
        </p:nvSpPr>
        <p:spPr>
          <a:xfrm xmlns:a="http://schemas.openxmlformats.org/drawingml/2006/main">
            <a:off x="11049000" y="6419850"/>
            <a:ext cx="762000" cy="30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page-number-8">
            <a:extLst xmlns:a="http://schemas.openxmlformats.org/drawingml/2006/main">
              <a:ext uri="{FF2B5EF4-FFF2-40B4-BE49-F238E27FC236}">
                <a16:creationId xmlns:a16="http://schemas.microsoft.com/office/drawing/2014/main" id="{36A587FC-3633-409F-8DDA-F102460B22A4}"/>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1050" b="1">
                <a:solidFill>
                  <a:srgbClr val="595959"/>
                </a:solidFill>
              </a:defRPr>
            </a:pPr>
            <a:r>
              <a:rPr sz="1050" b="1">
                <a:solidFill>
                  <a:srgbClr val="595959"/>
                </a:solidFill>
              </a:rPr>
              <a:t>09</a:t>
            </a:r>
          </a:p>
        </p:txBody>
      </p:sp>
    </p:spTree>
    <p:extLst>
      <p:ext uri="{BB962C8B-B14F-4D97-AF65-F5344CB8AC3E}">
        <p14:creationId xmlns:p14="http://schemas.microsoft.com/office/powerpoint/2010/main" val="3810731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B333CD3-1C7C-4C4F-BD72-67C847FAC87A}"/>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595959"/>
                </a:solidFill>
              </a:defRPr>
            </a:pPr>
            <a:r>
              <a:rPr sz="1050" b="1">
                <a:solidFill>
                  <a:srgbClr val="595959"/>
                </a:solidFill>
              </a:rPr>
              <a:t>08 — KẾT LUẬN VÀ HƯỚNG ĐI</a:t>
            </a:r>
          </a:p>
        </p:txBody>
      </p:sp>
      <p:sp>
        <p:nvSpPr>
          <p:cNvPr id="2" name="title">
            <a:extLst xmlns:a="http://schemas.openxmlformats.org/drawingml/2006/main">
              <a:ext uri="{FF2B5EF4-FFF2-40B4-BE49-F238E27FC236}">
                <a16:creationId xmlns:a16="http://schemas.microsoft.com/office/drawing/2014/main" id="{9EC9AF6B-C856-4896-B02F-B34A4CAE0B25}"/>
              </a:ext>
            </a:extLst>
          </p:cNvPr>
          <p:cNvSpPr>
            <a:spLocks xmlns:a="http://schemas.openxmlformats.org/drawingml/2006/main" noGrp="1"/>
          </p:cNvSpPr>
          <p:nvPr/>
        </p:nvSpPr>
        <p:spPr>
          <a:xfrm xmlns:a="http://schemas.openxmlformats.org/drawingml/2006/main">
            <a:off x="4000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450" b="1">
                <a:solidFill>
                  <a:srgbClr val="111111"/>
                </a:solidFill>
              </a:defRPr>
            </a:pPr>
            <a:r>
              <a:rPr sz="3450" b="1">
                <a:solidFill>
                  <a:srgbClr val="111111"/>
                </a:solidFill>
              </a:rPr>
              <a:t>Sẵn sàng cho bước dự báo thật</a:t>
            </a:r>
          </a:p>
        </p:txBody>
      </p:sp>
      <p:sp>
        <p:nvSpPr>
          <p:cNvPr id="3" name="subtitle">
            <a:extLst xmlns:a="http://schemas.openxmlformats.org/drawingml/2006/main">
              <a:ext uri="{FF2B5EF4-FFF2-40B4-BE49-F238E27FC236}">
                <a16:creationId xmlns:a16="http://schemas.microsoft.com/office/drawing/2014/main" id="{EEE7B8D9-2D50-415B-BA29-E0EFC262422C}"/>
              </a:ext>
            </a:extLst>
          </p:cNvPr>
          <p:cNvSpPr>
            <a:spLocks xmlns:a="http://schemas.openxmlformats.org/drawingml/2006/main" noGrp="1"/>
          </p:cNvSpPr>
          <p:nvPr/>
        </p:nvSpPr>
        <p:spPr>
          <a:xfrm xmlns:a="http://schemas.openxmlformats.org/drawingml/2006/main">
            <a:off x="400050" y="14859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a:solidFill>
                  <a:srgbClr val="595959"/>
                </a:solidFill>
              </a:defRPr>
            </a:pPr>
            <a:r>
              <a:rPr sz="1650">
                <a:solidFill>
                  <a:srgbClr val="595959"/>
                </a:solidFill>
              </a:rPr>
              <a:t>Giá trị hiện tại là pipeline tái lập được và các tín hiệu ban đầu có điều kiện.</a:t>
            </a:r>
          </a:p>
        </p:txBody>
      </p:sp>
      <p:sp>
        <p:nvSpPr>
          <p:cNvPr id="4" name="roadmap-number">
            <a:extLst xmlns:a="http://schemas.openxmlformats.org/drawingml/2006/main">
              <a:ext uri="{FF2B5EF4-FFF2-40B4-BE49-F238E27FC236}">
                <a16:creationId xmlns:a16="http://schemas.microsoft.com/office/drawing/2014/main" id="{74C19A18-5619-4D59-8FB8-70007B90857F}"/>
              </a:ext>
            </a:extLst>
          </p:cNvPr>
          <p:cNvSpPr>
            <a:spLocks xmlns:a="http://schemas.openxmlformats.org/drawingml/2006/main" noGrp="1"/>
          </p:cNvSpPr>
          <p:nvPr/>
        </p:nvSpPr>
        <p:spPr>
          <a:xfrm xmlns:a="http://schemas.openxmlformats.org/drawingml/2006/main">
            <a:off x="590550"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600" b="1">
                <a:solidFill>
                  <a:srgbClr val="FF6B35"/>
                </a:solidFill>
              </a:defRPr>
            </a:pPr>
            <a:r>
              <a:rPr sz="3600" b="1">
                <a:solidFill>
                  <a:srgbClr val="FF6B35"/>
                </a:solidFill>
              </a:rPr>
              <a:t>01</a:t>
            </a:r>
          </a:p>
        </p:txBody>
      </p:sp>
      <p:sp>
        <p:nvSpPr>
          <p:cNvPr id="5" name="rule">
            <a:extLst xmlns:a="http://schemas.openxmlformats.org/drawingml/2006/main">
              <a:ext uri="{FF2B5EF4-FFF2-40B4-BE49-F238E27FC236}">
                <a16:creationId xmlns:a16="http://schemas.microsoft.com/office/drawing/2014/main" id="{AA8E57D9-E054-4708-AFAC-00CC843C880C}"/>
              </a:ext>
            </a:extLst>
          </p:cNvPr>
          <p:cNvSpPr>
            <a:spLocks xmlns:a="http://schemas.openxmlformats.org/drawingml/2006/main" noGrp="1"/>
          </p:cNvSpPr>
          <p:nvPr/>
        </p:nvSpPr>
        <p:spPr>
          <a:xfrm xmlns:a="http://schemas.openxmlformats.org/drawingml/2006/main">
            <a:off x="590550" y="2971800"/>
            <a:ext cx="3143250" cy="190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6" name="roadmap-title">
            <a:extLst xmlns:a="http://schemas.openxmlformats.org/drawingml/2006/main">
              <a:ext uri="{FF2B5EF4-FFF2-40B4-BE49-F238E27FC236}">
                <a16:creationId xmlns:a16="http://schemas.microsoft.com/office/drawing/2014/main" id="{0318013B-9E3C-4DB4-9DBB-C62147F9ABC8}"/>
              </a:ext>
            </a:extLst>
          </p:cNvPr>
          <p:cNvSpPr>
            <a:spLocks xmlns:a="http://schemas.openxmlformats.org/drawingml/2006/main" noGrp="1"/>
          </p:cNvSpPr>
          <p:nvPr/>
        </p:nvSpPr>
        <p:spPr>
          <a:xfrm xmlns:a="http://schemas.openxmlformats.org/drawingml/2006/main">
            <a:off x="590550"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025" b="1">
                <a:solidFill>
                  <a:srgbClr val="111111"/>
                </a:solidFill>
              </a:defRPr>
            </a:pPr>
            <a:r>
              <a:rPr sz="2025" b="1">
                <a:solidFill>
                  <a:srgbClr val="111111"/>
                </a:solidFill>
              </a:rPr>
              <a:t>Thu thập theo kỳ</a:t>
            </a:r>
          </a:p>
        </p:txBody>
      </p:sp>
      <p:sp>
        <p:nvSpPr>
          <p:cNvPr id="7" name="roadmap-body">
            <a:extLst xmlns:a="http://schemas.openxmlformats.org/drawingml/2006/main">
              <a:ext uri="{FF2B5EF4-FFF2-40B4-BE49-F238E27FC236}">
                <a16:creationId xmlns:a16="http://schemas.microsoft.com/office/drawing/2014/main" id="{0A79B7E2-8096-4FAA-BCC4-C166450B9E51}"/>
              </a:ext>
            </a:extLst>
          </p:cNvPr>
          <p:cNvSpPr>
            <a:spLocks xmlns:a="http://schemas.openxmlformats.org/drawingml/2006/main" noGrp="1"/>
          </p:cNvSpPr>
          <p:nvPr/>
        </p:nvSpPr>
        <p:spPr>
          <a:xfrm xmlns:a="http://schemas.openxmlformats.org/drawingml/2006/main">
            <a:off x="590550"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425">
                <a:solidFill>
                  <a:srgbClr val="595959"/>
                </a:solidFill>
              </a:defRPr>
            </a:pPr>
            <a:r>
              <a:rPr sz="1425">
                <a:solidFill>
                  <a:srgbClr val="595959"/>
                </a:solidFill>
              </a:rPr>
              <a:t>Crawl cùng thiết kế hằng tuần/tháng; lưu cohort và coverage theo nguồn.</a:t>
            </a:r>
          </a:p>
        </p:txBody>
      </p:sp>
      <p:sp>
        <p:nvSpPr>
          <p:cNvPr id="8" name="roadmap-number">
            <a:extLst xmlns:a="http://schemas.openxmlformats.org/drawingml/2006/main">
              <a:ext uri="{FF2B5EF4-FFF2-40B4-BE49-F238E27FC236}">
                <a16:creationId xmlns:a16="http://schemas.microsoft.com/office/drawing/2014/main" id="{BF2BF289-F630-40C1-AADF-0AACDF8C4ECC}"/>
              </a:ext>
            </a:extLst>
          </p:cNvPr>
          <p:cNvSpPr>
            <a:spLocks xmlns:a="http://schemas.openxmlformats.org/drawingml/2006/main" noGrp="1"/>
          </p:cNvSpPr>
          <p:nvPr/>
        </p:nvSpPr>
        <p:spPr>
          <a:xfrm xmlns:a="http://schemas.openxmlformats.org/drawingml/2006/main">
            <a:off x="4333875"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600" b="1">
                <a:solidFill>
                  <a:srgbClr val="111111"/>
                </a:solidFill>
              </a:defRPr>
            </a:pPr>
            <a:r>
              <a:rPr sz="3600" b="1">
                <a:solidFill>
                  <a:srgbClr val="111111"/>
                </a:solidFill>
              </a:rPr>
              <a:t>02</a:t>
            </a:r>
          </a:p>
        </p:txBody>
      </p:sp>
      <p:sp>
        <p:nvSpPr>
          <p:cNvPr id="9" name="rule">
            <a:extLst xmlns:a="http://schemas.openxmlformats.org/drawingml/2006/main">
              <a:ext uri="{FF2B5EF4-FFF2-40B4-BE49-F238E27FC236}">
                <a16:creationId xmlns:a16="http://schemas.microsoft.com/office/drawing/2014/main" id="{208D9F6D-B585-46E8-88DE-E6DA7238D397}"/>
              </a:ext>
            </a:extLst>
          </p:cNvPr>
          <p:cNvSpPr>
            <a:spLocks xmlns:a="http://schemas.openxmlformats.org/drawingml/2006/main" noGrp="1"/>
          </p:cNvSpPr>
          <p:nvPr/>
        </p:nvSpPr>
        <p:spPr>
          <a:xfrm xmlns:a="http://schemas.openxmlformats.org/drawingml/2006/main">
            <a:off x="4333875" y="2971800"/>
            <a:ext cx="31432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0" name="roadmap-title">
            <a:extLst xmlns:a="http://schemas.openxmlformats.org/drawingml/2006/main">
              <a:ext uri="{FF2B5EF4-FFF2-40B4-BE49-F238E27FC236}">
                <a16:creationId xmlns:a16="http://schemas.microsoft.com/office/drawing/2014/main" id="{B5EB1FDD-09FF-400F-B2E7-7BA233336FF8}"/>
              </a:ext>
            </a:extLst>
          </p:cNvPr>
          <p:cNvSpPr>
            <a:spLocks xmlns:a="http://schemas.openxmlformats.org/drawingml/2006/main" noGrp="1"/>
          </p:cNvSpPr>
          <p:nvPr/>
        </p:nvSpPr>
        <p:spPr>
          <a:xfrm xmlns:a="http://schemas.openxmlformats.org/drawingml/2006/main">
            <a:off x="4333875"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025" b="1">
                <a:solidFill>
                  <a:srgbClr val="111111"/>
                </a:solidFill>
              </a:defRPr>
            </a:pPr>
            <a:r>
              <a:rPr sz="2025" b="1">
                <a:solidFill>
                  <a:srgbClr val="111111"/>
                </a:solidFill>
              </a:rPr>
              <a:t>Sửa tại parser</a:t>
            </a:r>
          </a:p>
        </p:txBody>
      </p:sp>
      <p:sp>
        <p:nvSpPr>
          <p:cNvPr id="11" name="roadmap-body">
            <a:extLst xmlns:a="http://schemas.openxmlformats.org/drawingml/2006/main">
              <a:ext uri="{FF2B5EF4-FFF2-40B4-BE49-F238E27FC236}">
                <a16:creationId xmlns:a16="http://schemas.microsoft.com/office/drawing/2014/main" id="{1F52C679-50E0-4E1E-A009-E8889FDDCE35}"/>
              </a:ext>
            </a:extLst>
          </p:cNvPr>
          <p:cNvSpPr>
            <a:spLocks xmlns:a="http://schemas.openxmlformats.org/drawingml/2006/main" noGrp="1"/>
          </p:cNvSpPr>
          <p:nvPr/>
        </p:nvSpPr>
        <p:spPr>
          <a:xfrm xmlns:a="http://schemas.openxmlformats.org/drawingml/2006/main">
            <a:off x="4333875"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425">
                <a:solidFill>
                  <a:srgbClr val="595959"/>
                </a:solidFill>
              </a:defRPr>
            </a:pPr>
            <a:r>
              <a:rPr sz="1425">
                <a:solidFill>
                  <a:srgbClr val="595959"/>
                </a:solidFill>
              </a:rPr>
              <a:t>Tách salary_period khỏi mô tả; trích địa điểm từ trường có cấu trúc.</a:t>
            </a:r>
          </a:p>
        </p:txBody>
      </p:sp>
      <p:sp>
        <p:nvSpPr>
          <p:cNvPr id="12" name="roadmap-number">
            <a:extLst xmlns:a="http://schemas.openxmlformats.org/drawingml/2006/main">
              <a:ext uri="{FF2B5EF4-FFF2-40B4-BE49-F238E27FC236}">
                <a16:creationId xmlns:a16="http://schemas.microsoft.com/office/drawing/2014/main" id="{04AB7E51-7FB0-4894-ADFF-14BDD63EE4FA}"/>
              </a:ext>
            </a:extLst>
          </p:cNvPr>
          <p:cNvSpPr>
            <a:spLocks xmlns:a="http://schemas.openxmlformats.org/drawingml/2006/main" noGrp="1"/>
          </p:cNvSpPr>
          <p:nvPr/>
        </p:nvSpPr>
        <p:spPr>
          <a:xfrm xmlns:a="http://schemas.openxmlformats.org/drawingml/2006/main">
            <a:off x="8077200"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600" b="1">
                <a:solidFill>
                  <a:srgbClr val="111111"/>
                </a:solidFill>
              </a:defRPr>
            </a:pPr>
            <a:r>
              <a:rPr sz="3600" b="1">
                <a:solidFill>
                  <a:srgbClr val="111111"/>
                </a:solidFill>
              </a:rPr>
              <a:t>03</a:t>
            </a:r>
          </a:p>
        </p:txBody>
      </p:sp>
      <p:sp>
        <p:nvSpPr>
          <p:cNvPr id="13" name="rule">
            <a:extLst xmlns:a="http://schemas.openxmlformats.org/drawingml/2006/main">
              <a:ext uri="{FF2B5EF4-FFF2-40B4-BE49-F238E27FC236}">
                <a16:creationId xmlns:a16="http://schemas.microsoft.com/office/drawing/2014/main" id="{FC8F084C-9BE6-42F7-B473-E532BF36469C}"/>
              </a:ext>
            </a:extLst>
          </p:cNvPr>
          <p:cNvSpPr>
            <a:spLocks xmlns:a="http://schemas.openxmlformats.org/drawingml/2006/main" noGrp="1"/>
          </p:cNvSpPr>
          <p:nvPr/>
        </p:nvSpPr>
        <p:spPr>
          <a:xfrm xmlns:a="http://schemas.openxmlformats.org/drawingml/2006/main">
            <a:off x="8077200" y="2971800"/>
            <a:ext cx="31432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4" name="roadmap-title">
            <a:extLst xmlns:a="http://schemas.openxmlformats.org/drawingml/2006/main">
              <a:ext uri="{FF2B5EF4-FFF2-40B4-BE49-F238E27FC236}">
                <a16:creationId xmlns:a16="http://schemas.microsoft.com/office/drawing/2014/main" id="{418F1176-D5C9-41EC-A4D1-050DBFD9B8B9}"/>
              </a:ext>
            </a:extLst>
          </p:cNvPr>
          <p:cNvSpPr>
            <a:spLocks xmlns:a="http://schemas.openxmlformats.org/drawingml/2006/main" noGrp="1"/>
          </p:cNvSpPr>
          <p:nvPr/>
        </p:nvSpPr>
        <p:spPr>
          <a:xfrm xmlns:a="http://schemas.openxmlformats.org/drawingml/2006/main">
            <a:off x="8077200"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025" b="1">
                <a:solidFill>
                  <a:srgbClr val="111111"/>
                </a:solidFill>
              </a:defRPr>
            </a:pPr>
            <a:r>
              <a:rPr sz="2025" b="1">
                <a:solidFill>
                  <a:srgbClr val="111111"/>
                </a:solidFill>
              </a:rPr>
              <a:t>Đánh giá theo thời gian</a:t>
            </a:r>
          </a:p>
        </p:txBody>
      </p:sp>
      <p:sp>
        <p:nvSpPr>
          <p:cNvPr id="15" name="roadmap-body">
            <a:extLst xmlns:a="http://schemas.openxmlformats.org/drawingml/2006/main">
              <a:ext uri="{FF2B5EF4-FFF2-40B4-BE49-F238E27FC236}">
                <a16:creationId xmlns:a16="http://schemas.microsoft.com/office/drawing/2014/main" id="{46717CFC-5D57-4100-A564-39FB6DFDFB89}"/>
              </a:ext>
            </a:extLst>
          </p:cNvPr>
          <p:cNvSpPr>
            <a:spLocks xmlns:a="http://schemas.openxmlformats.org/drawingml/2006/main" noGrp="1"/>
          </p:cNvSpPr>
          <p:nvPr/>
        </p:nvSpPr>
        <p:spPr>
          <a:xfrm xmlns:a="http://schemas.openxmlformats.org/drawingml/2006/main">
            <a:off x="8077200"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425">
                <a:solidFill>
                  <a:srgbClr val="595959"/>
                </a:solidFill>
              </a:defRPr>
            </a:pPr>
            <a:r>
              <a:rPr sz="1425">
                <a:solidFill>
                  <a:srgbClr val="595959"/>
                </a:solidFill>
              </a:rPr>
              <a:t>Forecast demand time-series riêng; salary model dùng temporal hold-out.</a:t>
            </a:r>
          </a:p>
        </p:txBody>
      </p:sp>
      <p:sp>
        <p:nvSpPr>
          <p:cNvPr id="16" name="conclusion">
            <a:extLst xmlns:a="http://schemas.openxmlformats.org/drawingml/2006/main">
              <a:ext uri="{FF2B5EF4-FFF2-40B4-BE49-F238E27FC236}">
                <a16:creationId xmlns:a16="http://schemas.microsoft.com/office/drawing/2014/main" id="{9C29043F-E63C-4398-90FC-C5A37ADE9FB0}"/>
              </a:ext>
            </a:extLst>
          </p:cNvPr>
          <p:cNvSpPr>
            <a:spLocks xmlns:a="http://schemas.openxmlformats.org/drawingml/2006/main" noGrp="1"/>
          </p:cNvSpPr>
          <p:nvPr/>
        </p:nvSpPr>
        <p:spPr>
          <a:xfrm xmlns:a="http://schemas.openxmlformats.org/drawingml/2006/main">
            <a:off x="400050" y="5610225"/>
            <a:ext cx="11010900" cy="552450"/>
          </a:xfrm>
          <a:prstGeom xmlns:a="http://schemas.openxmlformats.org/drawingml/2006/main" prst="roundRect">
            <a:avLst>
              <a:gd name="adj" fmla="val 13793"/>
            </a:avLst>
          </a:prstGeom>
          <a:solidFill xmlns:a="http://schemas.openxmlformats.org/drawingml/2006/main">
            <a:srgbClr val="202124"/>
          </a:solidFill>
          <a:ln xmlns:a="http://schemas.openxmlformats.org/drawingml/2006/main" w="0">
            <a:noFill/>
            <a:prstDash val="solid"/>
          </a:ln>
        </p:spPr>
      </p:sp>
      <p:sp>
        <p:nvSpPr>
          <p:cNvPr id="17" name="conclusion-text">
            <a:extLst xmlns:a="http://schemas.openxmlformats.org/drawingml/2006/main">
              <a:ext uri="{FF2B5EF4-FFF2-40B4-BE49-F238E27FC236}">
                <a16:creationId xmlns:a16="http://schemas.microsoft.com/office/drawing/2014/main" id="{6705E998-9DD5-4DEC-B624-9B780D54DA52}"/>
              </a:ext>
            </a:extLst>
          </p:cNvPr>
          <p:cNvSpPr>
            <a:spLocks xmlns:a="http://schemas.openxmlformats.org/drawingml/2006/main" noGrp="1"/>
          </p:cNvSpPr>
          <p:nvPr/>
        </p:nvSpPr>
        <p:spPr>
          <a:xfrm xmlns:a="http://schemas.openxmlformats.org/drawingml/2006/main">
            <a:off x="628650" y="57721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defRPr>
            </a:pPr>
            <a:r>
              <a:rPr sz="1350" b="1">
                <a:solidFill>
                  <a:srgbClr val="FFFFFF"/>
                </a:solidFill>
              </a:rPr>
              <a:t>Kết luận: chưa thể dự báo thị trường một cách đáng tin cậy — nhưng đã biết chính xác cần thu thập và sửa gì để làm được.</a:t>
            </a:r>
          </a:p>
        </p:txBody>
      </p:sp>
      <p:sp>
        <p:nvSpPr>
          <p:cNvPr id="18" name="rule">
            <a:extLst xmlns:a="http://schemas.openxmlformats.org/drawingml/2006/main">
              <a:ext uri="{FF2B5EF4-FFF2-40B4-BE49-F238E27FC236}">
                <a16:creationId xmlns:a16="http://schemas.microsoft.com/office/drawing/2014/main" id="{367FBE5B-6973-41F5-95CE-0E072065EC55}"/>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9" name="source">
            <a:extLst xmlns:a="http://schemas.openxmlformats.org/drawingml/2006/main">
              <a:ext uri="{FF2B5EF4-FFF2-40B4-BE49-F238E27FC236}">
                <a16:creationId xmlns:a16="http://schemas.microsoft.com/office/drawing/2014/main" id="{56D73D19-8E6B-404B-822F-B8478A55B8FE}"/>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25">
                <a:solidFill>
                  <a:srgbClr val="595959"/>
                </a:solidFill>
              </a:defRPr>
            </a:pPr>
            <a:r>
              <a:rPr sz="825">
                <a:solidFill>
                  <a:srgbClr val="595959"/>
                </a:solidFill>
              </a:rPr>
              <a:t>Nguồn: tổng hợp từ pipeline, EDA và baseline model của project</a:t>
            </a:r>
          </a:p>
        </p:txBody>
      </p:sp>
      <p:sp>
        <p:nvSpPr>
          <p:cNvPr id="20" name="slide-number">
            <a:extLst xmlns:a="http://schemas.openxmlformats.org/drawingml/2006/main">
              <a:ext uri="{FF2B5EF4-FFF2-40B4-BE49-F238E27FC236}">
                <a16:creationId xmlns:a16="http://schemas.microsoft.com/office/drawing/2014/main" id="{4FFEE1EB-9920-4063-8BB0-681A2642200F}"/>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595959"/>
                </a:solidFill>
              </a:defRPr>
            </a:pPr>
            <a:r>
              <a:rPr sz="1050" b="1">
                <a:solidFill>
                  <a:srgbClr val="595959"/>
                </a:solidFill>
              </a:rPr>
              <a:t>09</a:t>
            </a:r>
          </a:p>
        </p:txBody>
      </p:sp>
      <p:sp>
        <p:nvSpPr>
          <p:cNvPr id="21" name="eyebrow-cover-9">
            <a:extLst xmlns:a="http://schemas.openxmlformats.org/drawingml/2006/main">
              <a:ext uri="{FF2B5EF4-FFF2-40B4-BE49-F238E27FC236}">
                <a16:creationId xmlns:a16="http://schemas.microsoft.com/office/drawing/2014/main" id="{FAD5859F-B13E-49D8-A8D3-09051CAB0816}"/>
              </a:ext>
            </a:extLst>
          </p:cNvPr>
          <p:cNvSpPr>
            <a:spLocks xmlns:a="http://schemas.openxmlformats.org/drawingml/2006/main" noGrp="1"/>
          </p:cNvSpPr>
          <p:nvPr/>
        </p:nvSpPr>
        <p:spPr>
          <a:xfrm xmlns:a="http://schemas.openxmlformats.org/drawingml/2006/main">
            <a:off x="400050" y="314325"/>
            <a:ext cx="3524250" cy="32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eyebrow-label-9">
            <a:extLst xmlns:a="http://schemas.openxmlformats.org/drawingml/2006/main">
              <a:ext uri="{FF2B5EF4-FFF2-40B4-BE49-F238E27FC236}">
                <a16:creationId xmlns:a16="http://schemas.microsoft.com/office/drawing/2014/main" id="{416AEFE9-A466-4325-B21E-B5A8A3C7ABDE}"/>
              </a:ext>
            </a:extLst>
          </p:cNvPr>
          <p:cNvSpPr>
            <a:spLocks xmlns:a="http://schemas.openxmlformats.org/drawingml/2006/main" noGrp="1"/>
          </p:cNvSpPr>
          <p:nvPr/>
        </p:nvSpPr>
        <p:spPr>
          <a:xfrm xmlns:a="http://schemas.openxmlformats.org/drawingml/2006/main">
            <a:off x="400050" y="371475"/>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lnSpc>
                <a:spcPct val="100000"/>
              </a:lnSpc>
              <a:buNone/>
              <a:defRPr sz="1050" b="1">
                <a:solidFill>
                  <a:srgbClr val="595959"/>
                </a:solidFill>
              </a:defRPr>
            </a:pPr>
            <a:r>
              <a:rPr sz="1050" b="1">
                <a:solidFill>
                  <a:srgbClr val="595959"/>
                </a:solidFill>
              </a:rPr>
              <a:t>09 — KẾT LUẬN VÀ HƯỚNG ĐI</a:t>
            </a:r>
          </a:p>
        </p:txBody>
      </p:sp>
      <p:sp>
        <p:nvSpPr>
          <p:cNvPr id="23" name="page-cover-9">
            <a:extLst xmlns:a="http://schemas.openxmlformats.org/drawingml/2006/main">
              <a:ext uri="{FF2B5EF4-FFF2-40B4-BE49-F238E27FC236}">
                <a16:creationId xmlns:a16="http://schemas.microsoft.com/office/drawing/2014/main" id="{65AF5C78-10F8-40B6-8589-F9881CB9D824}"/>
              </a:ext>
            </a:extLst>
          </p:cNvPr>
          <p:cNvSpPr>
            <a:spLocks xmlns:a="http://schemas.openxmlformats.org/drawingml/2006/main" noGrp="1"/>
          </p:cNvSpPr>
          <p:nvPr/>
        </p:nvSpPr>
        <p:spPr>
          <a:xfrm xmlns:a="http://schemas.openxmlformats.org/drawingml/2006/main">
            <a:off x="11049000" y="6419850"/>
            <a:ext cx="762000" cy="30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page-number-9">
            <a:extLst xmlns:a="http://schemas.openxmlformats.org/drawingml/2006/main">
              <a:ext uri="{FF2B5EF4-FFF2-40B4-BE49-F238E27FC236}">
                <a16:creationId xmlns:a16="http://schemas.microsoft.com/office/drawing/2014/main" id="{855876F0-889C-4A7C-97FB-9CE6AC9F246C}"/>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lnSpc>
                <a:spcPct val="100000"/>
              </a:lnSpc>
              <a:buNone/>
              <a:defRPr sz="1050" b="1">
                <a:solidFill>
                  <a:srgbClr val="595959"/>
                </a:solidFill>
              </a:defRPr>
            </a:pPr>
            <a:r>
              <a:rPr sz="1050" b="1">
                <a:solidFill>
                  <a:srgbClr val="595959"/>
                </a:solidFill>
              </a:rPr>
              <a:t>10</a:t>
            </a:r>
          </a:p>
        </p:txBody>
      </p:sp>
    </p:spTree>
    <p:extLst>
      <p:ext uri="{BB962C8B-B14F-4D97-AF65-F5344CB8AC3E}">
        <p14:creationId xmlns:p14="http://schemas.microsoft.com/office/powerpoint/2010/main" val="100094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2026-07-15T16:08:57.1350000Z</dcterms:created>
  <dcterms:modified xsi:type="dcterms:W3CDTF">2026-07-15T16:08:57.1350000Z</dcterms:modified>
</coreProperties>
</file>